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Medium" charset="1" panose="00000600000000000000"/>
      <p:regular r:id="rId15"/>
    </p:embeddedFont>
    <p:embeddedFont>
      <p:font typeface="Aileron Bold" charset="1" panose="00000800000000000000"/>
      <p:regular r:id="rId16"/>
    </p:embeddedFont>
    <p:embeddedFont>
      <p:font typeface="Open Sauce Light" charset="1" panose="00000400000000000000"/>
      <p:regular r:id="rId17"/>
    </p:embeddedFont>
    <p:embeddedFont>
      <p:font typeface="Open Sauce Bold" charset="1" panose="00000800000000000000"/>
      <p:regular r:id="rId18"/>
    </p:embeddedFont>
    <p:embeddedFont>
      <p:font typeface="Aileron"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media/image17.jpeg" Type="http://schemas.openxmlformats.org/officeDocument/2006/relationships/image"/><Relationship Id="rId7" Target="../media/image1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805333" y="5445755"/>
            <a:ext cx="1738480" cy="327876"/>
          </a:xfrm>
          <a:prstGeom prst="rect">
            <a:avLst/>
          </a:prstGeom>
        </p:spPr>
        <p:txBody>
          <a:bodyPr anchor="t" rtlCol="false" tIns="0" lIns="0" bIns="0" rIns="0">
            <a:spAutoFit/>
          </a:bodyPr>
          <a:lstStyle/>
          <a:p>
            <a:pPr algn="l" marL="0" indent="0" lvl="0">
              <a:lnSpc>
                <a:spcPts val="2585"/>
              </a:lnSpc>
            </a:pPr>
            <a:r>
              <a:rPr lang="en-US" b="true" sz="2350" spc="-23" u="sng">
                <a:solidFill>
                  <a:srgbClr val="1F191A"/>
                </a:solidFill>
                <a:latin typeface="Open Sauce Medium"/>
                <a:ea typeface="Open Sauce Medium"/>
                <a:cs typeface="Open Sauce Medium"/>
                <a:sym typeface="Open Sauce Medium"/>
              </a:rPr>
              <a:t>Kelompok 1</a:t>
            </a:r>
          </a:p>
        </p:txBody>
      </p:sp>
      <p:sp>
        <p:nvSpPr>
          <p:cNvPr name="TextBox 3" id="3"/>
          <p:cNvSpPr txBox="true"/>
          <p:nvPr/>
        </p:nvSpPr>
        <p:spPr>
          <a:xfrm rot="0">
            <a:off x="531285" y="400270"/>
            <a:ext cx="17225429" cy="3333966"/>
          </a:xfrm>
          <a:prstGeom prst="rect">
            <a:avLst/>
          </a:prstGeom>
        </p:spPr>
        <p:txBody>
          <a:bodyPr anchor="t" rtlCol="false" tIns="0" lIns="0" bIns="0" rIns="0">
            <a:spAutoFit/>
          </a:bodyPr>
          <a:lstStyle/>
          <a:p>
            <a:pPr algn="ctr">
              <a:lnSpc>
                <a:spcPts val="12616"/>
              </a:lnSpc>
            </a:pPr>
            <a:r>
              <a:rPr lang="en-US" b="true" sz="14018" spc="-1121">
                <a:solidFill>
                  <a:srgbClr val="EF4434"/>
                </a:solidFill>
                <a:latin typeface="Aileron Bold"/>
                <a:ea typeface="Aileron Bold"/>
                <a:cs typeface="Aileron Bold"/>
                <a:sym typeface="Aileron Bold"/>
              </a:rPr>
              <a:t>STATELESS &amp; STATEFULL WIDGET</a:t>
            </a:r>
          </a:p>
        </p:txBody>
      </p:sp>
      <p:grpSp>
        <p:nvGrpSpPr>
          <p:cNvPr name="Group 4" id="4"/>
          <p:cNvGrpSpPr/>
          <p:nvPr/>
        </p:nvGrpSpPr>
        <p:grpSpPr>
          <a:xfrm rot="0">
            <a:off x="3239248" y="7224997"/>
            <a:ext cx="11826080" cy="904197"/>
            <a:chOff x="0" y="0"/>
            <a:chExt cx="3199068" cy="244594"/>
          </a:xfrm>
        </p:grpSpPr>
        <p:sp>
          <p:nvSpPr>
            <p:cNvPr name="Freeform 5" id="5"/>
            <p:cNvSpPr/>
            <p:nvPr/>
          </p:nvSpPr>
          <p:spPr>
            <a:xfrm flipH="false" flipV="false" rot="0">
              <a:off x="0" y="0"/>
              <a:ext cx="3199068" cy="244594"/>
            </a:xfrm>
            <a:custGeom>
              <a:avLst/>
              <a:gdLst/>
              <a:ahLst/>
              <a:cxnLst/>
              <a:rect r="r" b="b" t="t" l="l"/>
              <a:pathLst>
                <a:path h="244594" w="3199068">
                  <a:moveTo>
                    <a:pt x="1599534" y="0"/>
                  </a:moveTo>
                  <a:cubicBezTo>
                    <a:pt x="716136" y="0"/>
                    <a:pt x="0" y="54754"/>
                    <a:pt x="0" y="122297"/>
                  </a:cubicBezTo>
                  <a:cubicBezTo>
                    <a:pt x="0" y="189840"/>
                    <a:pt x="716136" y="244594"/>
                    <a:pt x="1599534" y="244594"/>
                  </a:cubicBezTo>
                  <a:cubicBezTo>
                    <a:pt x="2482932" y="244594"/>
                    <a:pt x="3199068" y="189840"/>
                    <a:pt x="3199068" y="122297"/>
                  </a:cubicBezTo>
                  <a:cubicBezTo>
                    <a:pt x="3199068" y="54754"/>
                    <a:pt x="2482932" y="0"/>
                    <a:pt x="1599534" y="0"/>
                  </a:cubicBezTo>
                  <a:close/>
                </a:path>
              </a:pathLst>
            </a:custGeom>
            <a:solidFill>
              <a:srgbClr val="F26843"/>
            </a:solidFill>
          </p:spPr>
        </p:sp>
        <p:sp>
          <p:nvSpPr>
            <p:cNvPr name="TextBox 6" id="6"/>
            <p:cNvSpPr txBox="true"/>
            <p:nvPr/>
          </p:nvSpPr>
          <p:spPr>
            <a:xfrm>
              <a:off x="299913" y="-24694"/>
              <a:ext cx="2599243" cy="246358"/>
            </a:xfrm>
            <a:prstGeom prst="rect">
              <a:avLst/>
            </a:prstGeom>
          </p:spPr>
          <p:txBody>
            <a:bodyPr anchor="ctr" rtlCol="false" tIns="50800" lIns="50800" bIns="50800" rIns="50800"/>
            <a:lstStyle/>
            <a:p>
              <a:pPr algn="ctr">
                <a:lnSpc>
                  <a:spcPts val="3358"/>
                </a:lnSpc>
              </a:pPr>
            </a:p>
          </p:txBody>
        </p:sp>
      </p:grpSp>
      <p:sp>
        <p:nvSpPr>
          <p:cNvPr name="Freeform 7" id="7"/>
          <p:cNvSpPr/>
          <p:nvPr/>
        </p:nvSpPr>
        <p:spPr>
          <a:xfrm flipH="false" flipV="false" rot="0">
            <a:off x="2866507" y="3337509"/>
            <a:ext cx="12118284" cy="4574652"/>
          </a:xfrm>
          <a:custGeom>
            <a:avLst/>
            <a:gdLst/>
            <a:ahLst/>
            <a:cxnLst/>
            <a:rect r="r" b="b" t="t" l="l"/>
            <a:pathLst>
              <a:path h="4574652" w="12118284">
                <a:moveTo>
                  <a:pt x="0" y="0"/>
                </a:moveTo>
                <a:lnTo>
                  <a:pt x="12118284" y="0"/>
                </a:lnTo>
                <a:lnTo>
                  <a:pt x="12118284" y="4574652"/>
                </a:lnTo>
                <a:lnTo>
                  <a:pt x="0" y="4574652"/>
                </a:lnTo>
                <a:lnTo>
                  <a:pt x="0" y="0"/>
                </a:lnTo>
                <a:close/>
              </a:path>
            </a:pathLst>
          </a:custGeom>
          <a:blipFill>
            <a:blip r:embed="rId2"/>
            <a:stretch>
              <a:fillRect l="0" t="0" r="0" b="0"/>
            </a:stretch>
          </a:blipFill>
        </p:spPr>
      </p:sp>
      <p:sp>
        <p:nvSpPr>
          <p:cNvPr name="TextBox 8" id="8"/>
          <p:cNvSpPr txBox="true"/>
          <p:nvPr/>
        </p:nvSpPr>
        <p:spPr>
          <a:xfrm rot="0">
            <a:off x="15820231" y="5445755"/>
            <a:ext cx="1750064" cy="327876"/>
          </a:xfrm>
          <a:prstGeom prst="rect">
            <a:avLst/>
          </a:prstGeom>
        </p:spPr>
        <p:txBody>
          <a:bodyPr anchor="t" rtlCol="false" tIns="0" lIns="0" bIns="0" rIns="0">
            <a:spAutoFit/>
          </a:bodyPr>
          <a:lstStyle/>
          <a:p>
            <a:pPr algn="r" marL="0" indent="0" lvl="0">
              <a:lnSpc>
                <a:spcPts val="2585"/>
              </a:lnSpc>
            </a:pPr>
            <a:r>
              <a:rPr lang="en-US" b="true" sz="2350" spc="-23" u="sng">
                <a:solidFill>
                  <a:srgbClr val="1F191A"/>
                </a:solidFill>
                <a:latin typeface="Open Sauce Medium"/>
                <a:ea typeface="Open Sauce Medium"/>
                <a:cs typeface="Open Sauce Medium"/>
                <a:sym typeface="Open Sauce Medium"/>
              </a:rPr>
              <a:t>Golongan E</a:t>
            </a:r>
          </a:p>
        </p:txBody>
      </p:sp>
      <p:sp>
        <p:nvSpPr>
          <p:cNvPr name="TextBox 9" id="9"/>
          <p:cNvSpPr txBox="true"/>
          <p:nvPr/>
        </p:nvSpPr>
        <p:spPr>
          <a:xfrm rot="0">
            <a:off x="2684528" y="8850623"/>
            <a:ext cx="12918944" cy="538122"/>
          </a:xfrm>
          <a:prstGeom prst="rect">
            <a:avLst/>
          </a:prstGeom>
        </p:spPr>
        <p:txBody>
          <a:bodyPr anchor="t" rtlCol="false" tIns="0" lIns="0" bIns="0" rIns="0">
            <a:spAutoFit/>
          </a:bodyPr>
          <a:lstStyle/>
          <a:p>
            <a:pPr algn="l">
              <a:lnSpc>
                <a:spcPts val="3839"/>
              </a:lnSpc>
            </a:pPr>
            <a:r>
              <a:rPr lang="en-US" sz="4570" spc="-228" b="true">
                <a:solidFill>
                  <a:srgbClr val="1F191A"/>
                </a:solidFill>
                <a:latin typeface="Aileron Bold"/>
                <a:ea typeface="Aileron Bold"/>
                <a:cs typeface="Aileron Bold"/>
                <a:sym typeface="Aileron Bold"/>
              </a:rPr>
              <a:t>WORKSHOP MOBILE APPLICATIONS FRAMEWORK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05852" y="4886693"/>
            <a:ext cx="424871" cy="424871"/>
          </a:xfrm>
          <a:custGeom>
            <a:avLst/>
            <a:gdLst/>
            <a:ahLst/>
            <a:cxnLst/>
            <a:rect r="r" b="b" t="t" l="l"/>
            <a:pathLst>
              <a:path h="424871" w="424871">
                <a:moveTo>
                  <a:pt x="0" y="0"/>
                </a:moveTo>
                <a:lnTo>
                  <a:pt x="424871" y="0"/>
                </a:lnTo>
                <a:lnTo>
                  <a:pt x="424871" y="424871"/>
                </a:lnTo>
                <a:lnTo>
                  <a:pt x="0" y="424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05852" y="7793097"/>
            <a:ext cx="424871" cy="424871"/>
          </a:xfrm>
          <a:custGeom>
            <a:avLst/>
            <a:gdLst/>
            <a:ahLst/>
            <a:cxnLst/>
            <a:rect r="r" b="b" t="t" l="l"/>
            <a:pathLst>
              <a:path h="424871" w="424871">
                <a:moveTo>
                  <a:pt x="0" y="0"/>
                </a:moveTo>
                <a:lnTo>
                  <a:pt x="424871" y="0"/>
                </a:lnTo>
                <a:lnTo>
                  <a:pt x="424871" y="424870"/>
                </a:lnTo>
                <a:lnTo>
                  <a:pt x="0" y="4248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205852" y="6978096"/>
            <a:ext cx="6716763" cy="0"/>
          </a:xfrm>
          <a:prstGeom prst="line">
            <a:avLst/>
          </a:prstGeom>
          <a:ln cap="flat" w="28575">
            <a:solidFill>
              <a:srgbClr val="000000"/>
            </a:solidFill>
            <a:prstDash val="solid"/>
            <a:headEnd type="none" len="sm" w="sm"/>
            <a:tailEnd type="none" len="sm" w="sm"/>
          </a:ln>
        </p:spPr>
      </p:sp>
      <p:sp>
        <p:nvSpPr>
          <p:cNvPr name="AutoShape 5" id="5"/>
          <p:cNvSpPr/>
          <p:nvPr/>
        </p:nvSpPr>
        <p:spPr>
          <a:xfrm flipV="true">
            <a:off x="9144000" y="1028700"/>
            <a:ext cx="0" cy="8229600"/>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5400000">
            <a:off x="10474511" y="1819540"/>
            <a:ext cx="424871" cy="424871"/>
          </a:xfrm>
          <a:custGeom>
            <a:avLst/>
            <a:gdLst/>
            <a:ahLst/>
            <a:cxnLst/>
            <a:rect r="r" b="b" t="t" l="l"/>
            <a:pathLst>
              <a:path h="424871" w="424871">
                <a:moveTo>
                  <a:pt x="0" y="0"/>
                </a:moveTo>
                <a:lnTo>
                  <a:pt x="424871" y="0"/>
                </a:lnTo>
                <a:lnTo>
                  <a:pt x="424871" y="424871"/>
                </a:lnTo>
                <a:lnTo>
                  <a:pt x="0" y="424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10474511" y="4886693"/>
            <a:ext cx="424871" cy="424871"/>
          </a:xfrm>
          <a:custGeom>
            <a:avLst/>
            <a:gdLst/>
            <a:ahLst/>
            <a:cxnLst/>
            <a:rect r="r" b="b" t="t" l="l"/>
            <a:pathLst>
              <a:path h="424871" w="424871">
                <a:moveTo>
                  <a:pt x="0" y="0"/>
                </a:moveTo>
                <a:lnTo>
                  <a:pt x="424871" y="0"/>
                </a:lnTo>
                <a:lnTo>
                  <a:pt x="424871" y="424871"/>
                </a:lnTo>
                <a:lnTo>
                  <a:pt x="0" y="424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8" id="8"/>
          <p:cNvSpPr/>
          <p:nvPr/>
        </p:nvSpPr>
        <p:spPr>
          <a:xfrm>
            <a:off x="10474511" y="3910943"/>
            <a:ext cx="6716763" cy="0"/>
          </a:xfrm>
          <a:prstGeom prst="line">
            <a:avLst/>
          </a:prstGeom>
          <a:ln cap="flat" w="28575">
            <a:solidFill>
              <a:srgbClr val="000000"/>
            </a:solidFill>
            <a:prstDash val="solid"/>
            <a:headEnd type="none" len="sm" w="sm"/>
            <a:tailEnd type="none" len="sm" w="sm"/>
          </a:ln>
        </p:spPr>
      </p:sp>
      <p:sp>
        <p:nvSpPr>
          <p:cNvPr name="AutoShape 9" id="9"/>
          <p:cNvSpPr/>
          <p:nvPr/>
        </p:nvSpPr>
        <p:spPr>
          <a:xfrm>
            <a:off x="10474511" y="6978096"/>
            <a:ext cx="6716763" cy="0"/>
          </a:xfrm>
          <a:prstGeom prst="line">
            <a:avLst/>
          </a:prstGeom>
          <a:ln cap="flat" w="28575">
            <a:solidFill>
              <a:srgbClr val="000000"/>
            </a:solidFill>
            <a:prstDash val="solid"/>
            <a:headEnd type="none" len="sm" w="sm"/>
            <a:tailEnd type="none" len="sm" w="sm"/>
          </a:ln>
        </p:spPr>
      </p:sp>
      <p:sp>
        <p:nvSpPr>
          <p:cNvPr name="TextBox 10" id="10"/>
          <p:cNvSpPr txBox="true"/>
          <p:nvPr/>
        </p:nvSpPr>
        <p:spPr>
          <a:xfrm rot="0">
            <a:off x="1096726" y="1388950"/>
            <a:ext cx="6825889" cy="2302452"/>
          </a:xfrm>
          <a:prstGeom prst="rect">
            <a:avLst/>
          </a:prstGeom>
        </p:spPr>
        <p:txBody>
          <a:bodyPr anchor="t" rtlCol="false" tIns="0" lIns="0" bIns="0" rIns="0">
            <a:spAutoFit/>
          </a:bodyPr>
          <a:lstStyle/>
          <a:p>
            <a:pPr algn="l" marL="0" indent="0" lvl="0">
              <a:lnSpc>
                <a:spcPts val="8897"/>
              </a:lnSpc>
              <a:spcBef>
                <a:spcPct val="0"/>
              </a:spcBef>
            </a:pPr>
            <a:r>
              <a:rPr lang="en-US" b="true" sz="8897" spc="-266">
                <a:solidFill>
                  <a:srgbClr val="EF4434"/>
                </a:solidFill>
                <a:latin typeface="Aileron Bold"/>
                <a:ea typeface="Aileron Bold"/>
                <a:cs typeface="Aileron Bold"/>
                <a:sym typeface="Aileron Bold"/>
              </a:rPr>
              <a:t>ANGGOTA KELOMPOK</a:t>
            </a:r>
          </a:p>
        </p:txBody>
      </p:sp>
      <p:sp>
        <p:nvSpPr>
          <p:cNvPr name="TextBox 11" id="11"/>
          <p:cNvSpPr txBox="true"/>
          <p:nvPr/>
        </p:nvSpPr>
        <p:spPr>
          <a:xfrm rot="0">
            <a:off x="2083934" y="5408242"/>
            <a:ext cx="5838681" cy="363824"/>
          </a:xfrm>
          <a:prstGeom prst="rect">
            <a:avLst/>
          </a:prstGeom>
        </p:spPr>
        <p:txBody>
          <a:bodyPr anchor="t" rtlCol="false" tIns="0" lIns="0" bIns="0" rIns="0">
            <a:spAutoFit/>
          </a:bodyPr>
          <a:lstStyle/>
          <a:p>
            <a:pPr algn="l" marL="0" indent="0" lvl="0">
              <a:lnSpc>
                <a:spcPts val="3085"/>
              </a:lnSpc>
              <a:spcBef>
                <a:spcPct val="0"/>
              </a:spcBef>
            </a:pPr>
            <a:r>
              <a:rPr lang="en-US" sz="2203" spc="-22">
                <a:solidFill>
                  <a:srgbClr val="1F191A"/>
                </a:solidFill>
                <a:latin typeface="Open Sauce Light"/>
                <a:ea typeface="Open Sauce Light"/>
                <a:cs typeface="Open Sauce Light"/>
                <a:sym typeface="Open Sauce Light"/>
              </a:rPr>
              <a:t>E41242041</a:t>
            </a:r>
          </a:p>
        </p:txBody>
      </p:sp>
      <p:sp>
        <p:nvSpPr>
          <p:cNvPr name="TextBox 12" id="12"/>
          <p:cNvSpPr txBox="true"/>
          <p:nvPr/>
        </p:nvSpPr>
        <p:spPr>
          <a:xfrm rot="0">
            <a:off x="2083934" y="4829543"/>
            <a:ext cx="5214658" cy="482095"/>
          </a:xfrm>
          <a:prstGeom prst="rect">
            <a:avLst/>
          </a:prstGeom>
        </p:spPr>
        <p:txBody>
          <a:bodyPr anchor="t" rtlCol="false" tIns="0" lIns="0" bIns="0" rIns="0">
            <a:spAutoFit/>
          </a:bodyPr>
          <a:lstStyle/>
          <a:p>
            <a:pPr algn="l" marL="0" indent="0" lvl="0">
              <a:lnSpc>
                <a:spcPts val="3927"/>
              </a:lnSpc>
              <a:spcBef>
                <a:spcPct val="0"/>
              </a:spcBef>
            </a:pPr>
            <a:r>
              <a:rPr lang="en-US" b="true" sz="2805" spc="-28">
                <a:solidFill>
                  <a:srgbClr val="1F191A"/>
                </a:solidFill>
                <a:latin typeface="Open Sauce Bold"/>
                <a:ea typeface="Open Sauce Bold"/>
                <a:cs typeface="Open Sauce Bold"/>
                <a:sym typeface="Open Sauce Bold"/>
              </a:rPr>
              <a:t>Ajeng Elsa Fitriyani</a:t>
            </a:r>
          </a:p>
        </p:txBody>
      </p:sp>
      <p:sp>
        <p:nvSpPr>
          <p:cNvPr name="TextBox 13" id="13"/>
          <p:cNvSpPr txBox="true"/>
          <p:nvPr/>
        </p:nvSpPr>
        <p:spPr>
          <a:xfrm rot="0">
            <a:off x="11352593" y="2341089"/>
            <a:ext cx="5838681" cy="363824"/>
          </a:xfrm>
          <a:prstGeom prst="rect">
            <a:avLst/>
          </a:prstGeom>
        </p:spPr>
        <p:txBody>
          <a:bodyPr anchor="t" rtlCol="false" tIns="0" lIns="0" bIns="0" rIns="0">
            <a:spAutoFit/>
          </a:bodyPr>
          <a:lstStyle/>
          <a:p>
            <a:pPr algn="l" marL="0" indent="0" lvl="0">
              <a:lnSpc>
                <a:spcPts val="3085"/>
              </a:lnSpc>
              <a:spcBef>
                <a:spcPct val="0"/>
              </a:spcBef>
            </a:pPr>
            <a:r>
              <a:rPr lang="en-US" sz="2203" spc="-22">
                <a:solidFill>
                  <a:srgbClr val="1F191A"/>
                </a:solidFill>
                <a:latin typeface="Open Sauce Light"/>
                <a:ea typeface="Open Sauce Light"/>
                <a:cs typeface="Open Sauce Light"/>
                <a:sym typeface="Open Sauce Light"/>
              </a:rPr>
              <a:t>E41242101</a:t>
            </a:r>
          </a:p>
        </p:txBody>
      </p:sp>
      <p:sp>
        <p:nvSpPr>
          <p:cNvPr name="TextBox 14" id="14"/>
          <p:cNvSpPr txBox="true"/>
          <p:nvPr/>
        </p:nvSpPr>
        <p:spPr>
          <a:xfrm rot="0">
            <a:off x="11352593" y="1762390"/>
            <a:ext cx="6073147" cy="482095"/>
          </a:xfrm>
          <a:prstGeom prst="rect">
            <a:avLst/>
          </a:prstGeom>
        </p:spPr>
        <p:txBody>
          <a:bodyPr anchor="t" rtlCol="false" tIns="0" lIns="0" bIns="0" rIns="0">
            <a:spAutoFit/>
          </a:bodyPr>
          <a:lstStyle/>
          <a:p>
            <a:pPr algn="l" marL="0" indent="0" lvl="0">
              <a:lnSpc>
                <a:spcPts val="3927"/>
              </a:lnSpc>
              <a:spcBef>
                <a:spcPct val="0"/>
              </a:spcBef>
            </a:pPr>
            <a:r>
              <a:rPr lang="en-US" b="true" sz="2805" spc="-28">
                <a:solidFill>
                  <a:srgbClr val="1F191A"/>
                </a:solidFill>
                <a:latin typeface="Open Sauce Bold"/>
                <a:ea typeface="Open Sauce Bold"/>
                <a:cs typeface="Open Sauce Bold"/>
                <a:sym typeface="Open Sauce Bold"/>
              </a:rPr>
              <a:t>Muhammad Fitrah Abdul Rahman S</a:t>
            </a:r>
          </a:p>
        </p:txBody>
      </p:sp>
      <p:sp>
        <p:nvSpPr>
          <p:cNvPr name="TextBox 15" id="15"/>
          <p:cNvSpPr txBox="true"/>
          <p:nvPr/>
        </p:nvSpPr>
        <p:spPr>
          <a:xfrm rot="0">
            <a:off x="2083934" y="8314645"/>
            <a:ext cx="5214658" cy="363824"/>
          </a:xfrm>
          <a:prstGeom prst="rect">
            <a:avLst/>
          </a:prstGeom>
        </p:spPr>
        <p:txBody>
          <a:bodyPr anchor="t" rtlCol="false" tIns="0" lIns="0" bIns="0" rIns="0">
            <a:spAutoFit/>
          </a:bodyPr>
          <a:lstStyle/>
          <a:p>
            <a:pPr algn="l" marL="0" indent="0" lvl="0">
              <a:lnSpc>
                <a:spcPts val="3085"/>
              </a:lnSpc>
              <a:spcBef>
                <a:spcPct val="0"/>
              </a:spcBef>
            </a:pPr>
            <a:r>
              <a:rPr lang="en-US" sz="2203" spc="-22">
                <a:solidFill>
                  <a:srgbClr val="1F191A"/>
                </a:solidFill>
                <a:latin typeface="Open Sauce Light"/>
                <a:ea typeface="Open Sauce Light"/>
                <a:cs typeface="Open Sauce Light"/>
                <a:sym typeface="Open Sauce Light"/>
              </a:rPr>
              <a:t>E41241945</a:t>
            </a:r>
          </a:p>
        </p:txBody>
      </p:sp>
      <p:sp>
        <p:nvSpPr>
          <p:cNvPr name="TextBox 16" id="16"/>
          <p:cNvSpPr txBox="true"/>
          <p:nvPr/>
        </p:nvSpPr>
        <p:spPr>
          <a:xfrm rot="0">
            <a:off x="2083934" y="7735947"/>
            <a:ext cx="5214658" cy="482095"/>
          </a:xfrm>
          <a:prstGeom prst="rect">
            <a:avLst/>
          </a:prstGeom>
        </p:spPr>
        <p:txBody>
          <a:bodyPr anchor="t" rtlCol="false" tIns="0" lIns="0" bIns="0" rIns="0">
            <a:spAutoFit/>
          </a:bodyPr>
          <a:lstStyle/>
          <a:p>
            <a:pPr algn="l" marL="0" indent="0" lvl="0">
              <a:lnSpc>
                <a:spcPts val="3927"/>
              </a:lnSpc>
              <a:spcBef>
                <a:spcPct val="0"/>
              </a:spcBef>
            </a:pPr>
            <a:r>
              <a:rPr lang="en-US" b="true" sz="2805" spc="-28">
                <a:solidFill>
                  <a:srgbClr val="1F191A"/>
                </a:solidFill>
                <a:latin typeface="Open Sauce Bold"/>
                <a:ea typeface="Open Sauce Bold"/>
                <a:cs typeface="Open Sauce Bold"/>
                <a:sym typeface="Open Sauce Bold"/>
              </a:rPr>
              <a:t>Herawati Putri Awaliyah</a:t>
            </a:r>
          </a:p>
        </p:txBody>
      </p:sp>
      <p:sp>
        <p:nvSpPr>
          <p:cNvPr name="TextBox 17" id="17"/>
          <p:cNvSpPr txBox="true"/>
          <p:nvPr/>
        </p:nvSpPr>
        <p:spPr>
          <a:xfrm rot="0">
            <a:off x="11352593" y="5408242"/>
            <a:ext cx="5838681" cy="363824"/>
          </a:xfrm>
          <a:prstGeom prst="rect">
            <a:avLst/>
          </a:prstGeom>
        </p:spPr>
        <p:txBody>
          <a:bodyPr anchor="t" rtlCol="false" tIns="0" lIns="0" bIns="0" rIns="0">
            <a:spAutoFit/>
          </a:bodyPr>
          <a:lstStyle/>
          <a:p>
            <a:pPr algn="l" marL="0" indent="0" lvl="0">
              <a:lnSpc>
                <a:spcPts val="3085"/>
              </a:lnSpc>
              <a:spcBef>
                <a:spcPct val="0"/>
              </a:spcBef>
            </a:pPr>
            <a:r>
              <a:rPr lang="en-US" sz="2203" spc="-22">
                <a:solidFill>
                  <a:srgbClr val="1F191A"/>
                </a:solidFill>
                <a:latin typeface="Open Sauce Light"/>
                <a:ea typeface="Open Sauce Light"/>
                <a:cs typeface="Open Sauce Light"/>
                <a:sym typeface="Open Sauce Light"/>
              </a:rPr>
              <a:t>E41242060</a:t>
            </a:r>
          </a:p>
        </p:txBody>
      </p:sp>
      <p:sp>
        <p:nvSpPr>
          <p:cNvPr name="TextBox 18" id="18"/>
          <p:cNvSpPr txBox="true"/>
          <p:nvPr/>
        </p:nvSpPr>
        <p:spPr>
          <a:xfrm rot="0">
            <a:off x="11352593" y="4829543"/>
            <a:ext cx="5214658" cy="482095"/>
          </a:xfrm>
          <a:prstGeom prst="rect">
            <a:avLst/>
          </a:prstGeom>
        </p:spPr>
        <p:txBody>
          <a:bodyPr anchor="t" rtlCol="false" tIns="0" lIns="0" bIns="0" rIns="0">
            <a:spAutoFit/>
          </a:bodyPr>
          <a:lstStyle/>
          <a:p>
            <a:pPr algn="l" marL="0" indent="0" lvl="0">
              <a:lnSpc>
                <a:spcPts val="3927"/>
              </a:lnSpc>
              <a:spcBef>
                <a:spcPct val="0"/>
              </a:spcBef>
            </a:pPr>
            <a:r>
              <a:rPr lang="en-US" b="true" sz="2805" spc="-28">
                <a:solidFill>
                  <a:srgbClr val="1F191A"/>
                </a:solidFill>
                <a:latin typeface="Open Sauce Bold"/>
                <a:ea typeface="Open Sauce Bold"/>
                <a:cs typeface="Open Sauce Bold"/>
                <a:sym typeface="Open Sauce Bold"/>
              </a:rPr>
              <a:t>Nadzwa Miqdaruhul Alfa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1385847" y="8897936"/>
            <a:ext cx="3086100" cy="515961"/>
            <a:chOff x="0" y="0"/>
            <a:chExt cx="812800" cy="135891"/>
          </a:xfrm>
        </p:grpSpPr>
        <p:sp>
          <p:nvSpPr>
            <p:cNvPr name="Freeform 3" id="3"/>
            <p:cNvSpPr/>
            <p:nvPr/>
          </p:nvSpPr>
          <p:spPr>
            <a:xfrm flipH="false" flipV="false" rot="0">
              <a:off x="0" y="0"/>
              <a:ext cx="812800" cy="135891"/>
            </a:xfrm>
            <a:custGeom>
              <a:avLst/>
              <a:gdLst/>
              <a:ahLst/>
              <a:cxnLst/>
              <a:rect r="r" b="b" t="t" l="l"/>
              <a:pathLst>
                <a:path h="135891" w="812800">
                  <a:moveTo>
                    <a:pt x="406400" y="0"/>
                  </a:moveTo>
                  <a:cubicBezTo>
                    <a:pt x="181951" y="0"/>
                    <a:pt x="0" y="30420"/>
                    <a:pt x="0" y="67945"/>
                  </a:cubicBezTo>
                  <a:cubicBezTo>
                    <a:pt x="0" y="105471"/>
                    <a:pt x="181951" y="135891"/>
                    <a:pt x="406400" y="135891"/>
                  </a:cubicBezTo>
                  <a:cubicBezTo>
                    <a:pt x="630849" y="135891"/>
                    <a:pt x="812800" y="105471"/>
                    <a:pt x="812800" y="67945"/>
                  </a:cubicBezTo>
                  <a:cubicBezTo>
                    <a:pt x="812800" y="30420"/>
                    <a:pt x="630849" y="0"/>
                    <a:pt x="406400" y="0"/>
                  </a:cubicBezTo>
                  <a:close/>
                </a:path>
              </a:pathLst>
            </a:custGeom>
            <a:solidFill>
              <a:srgbClr val="000000"/>
            </a:solidFill>
          </p:spPr>
        </p:sp>
        <p:sp>
          <p:nvSpPr>
            <p:cNvPr name="TextBox 4" id="4"/>
            <p:cNvSpPr txBox="true"/>
            <p:nvPr/>
          </p:nvSpPr>
          <p:spPr>
            <a:xfrm>
              <a:off x="76200" y="-34885"/>
              <a:ext cx="660400" cy="158036"/>
            </a:xfrm>
            <a:prstGeom prst="rect">
              <a:avLst/>
            </a:prstGeom>
          </p:spPr>
          <p:txBody>
            <a:bodyPr anchor="ctr" rtlCol="false" tIns="50800" lIns="50800" bIns="50800" rIns="50800"/>
            <a:lstStyle/>
            <a:p>
              <a:pPr algn="ctr">
                <a:lnSpc>
                  <a:spcPts val="3358"/>
                </a:lnSpc>
              </a:pPr>
            </a:p>
          </p:txBody>
        </p:sp>
      </p:grpSp>
      <p:grpSp>
        <p:nvGrpSpPr>
          <p:cNvPr name="Group 5" id="5"/>
          <p:cNvGrpSpPr/>
          <p:nvPr/>
        </p:nvGrpSpPr>
        <p:grpSpPr>
          <a:xfrm rot="0">
            <a:off x="1772637" y="1028700"/>
            <a:ext cx="3769738" cy="8165498"/>
            <a:chOff x="0" y="0"/>
            <a:chExt cx="5026318" cy="10887330"/>
          </a:xfrm>
        </p:grpSpPr>
        <p:grpSp>
          <p:nvGrpSpPr>
            <p:cNvPr name="Group 6" id="6"/>
            <p:cNvGrpSpPr/>
            <p:nvPr/>
          </p:nvGrpSpPr>
          <p:grpSpPr>
            <a:xfrm rot="0">
              <a:off x="2557993" y="670805"/>
              <a:ext cx="2127214" cy="212721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4434"/>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9" id="9"/>
            <p:cNvSpPr/>
            <p:nvPr/>
          </p:nvSpPr>
          <p:spPr>
            <a:xfrm flipH="false" flipV="false" rot="0">
              <a:off x="0" y="0"/>
              <a:ext cx="5026318" cy="10887330"/>
            </a:xfrm>
            <a:custGeom>
              <a:avLst/>
              <a:gdLst/>
              <a:ahLst/>
              <a:cxnLst/>
              <a:rect r="r" b="b" t="t" l="l"/>
              <a:pathLst>
                <a:path h="10887330" w="5026318">
                  <a:moveTo>
                    <a:pt x="0" y="0"/>
                  </a:moveTo>
                  <a:lnTo>
                    <a:pt x="5026318" y="0"/>
                  </a:lnTo>
                  <a:lnTo>
                    <a:pt x="5026318" y="10887330"/>
                  </a:lnTo>
                  <a:lnTo>
                    <a:pt x="0" y="10887330"/>
                  </a:lnTo>
                  <a:lnTo>
                    <a:pt x="0" y="0"/>
                  </a:lnTo>
                  <a:close/>
                </a:path>
              </a:pathLst>
            </a:custGeom>
            <a:blipFill>
              <a:blip r:embed="rId2"/>
              <a:stretch>
                <a:fillRect l="0" t="0" r="0" b="0"/>
              </a:stretch>
            </a:blipFill>
          </p:spPr>
        </p:sp>
      </p:grpSp>
      <p:sp>
        <p:nvSpPr>
          <p:cNvPr name="TextBox 10" id="10"/>
          <p:cNvSpPr txBox="true"/>
          <p:nvPr/>
        </p:nvSpPr>
        <p:spPr>
          <a:xfrm rot="0">
            <a:off x="6835916" y="3392794"/>
            <a:ext cx="9667860" cy="3936157"/>
          </a:xfrm>
          <a:prstGeom prst="rect">
            <a:avLst/>
          </a:prstGeom>
        </p:spPr>
        <p:txBody>
          <a:bodyPr anchor="t" rtlCol="false" tIns="0" lIns="0" bIns="0" rIns="0">
            <a:spAutoFit/>
          </a:bodyPr>
          <a:lstStyle/>
          <a:p>
            <a:pPr algn="just">
              <a:lnSpc>
                <a:spcPts val="3910"/>
              </a:lnSpc>
            </a:pPr>
            <a:r>
              <a:rPr lang="en-US" sz="2399" spc="105">
                <a:solidFill>
                  <a:srgbClr val="1F191A"/>
                </a:solidFill>
                <a:latin typeface="Open Sauce Light"/>
                <a:ea typeface="Open Sauce Light"/>
                <a:cs typeface="Open Sauce Light"/>
                <a:sym typeface="Open Sauce Light"/>
              </a:rPr>
              <a:t>Stateless widget adalah widget pada Flutter yang tidak memiliki keadaan (state) yang dapat berubah selama aplikasi berjalan. Artinya, setelah widget dibuat dan ditampilkan, tampilannya akan tetap sama kecuali jika widget tersebut dibangun ulang oleh parent-nya. Stateless widget biasanya digunakan untuk menampilkan elemen antarmuka yang bersifat statis atau tidak memerlukan pembaruan data secara langsung, seperti teks tetap, ikon, atau tata letak sederhana.</a:t>
            </a:r>
          </a:p>
        </p:txBody>
      </p:sp>
      <p:sp>
        <p:nvSpPr>
          <p:cNvPr name="TextBox 11" id="11"/>
          <p:cNvSpPr txBox="true"/>
          <p:nvPr/>
        </p:nvSpPr>
        <p:spPr>
          <a:xfrm rot="0">
            <a:off x="6835916" y="1889943"/>
            <a:ext cx="10423384" cy="972164"/>
          </a:xfrm>
          <a:prstGeom prst="rect">
            <a:avLst/>
          </a:prstGeom>
        </p:spPr>
        <p:txBody>
          <a:bodyPr anchor="t" rtlCol="false" tIns="0" lIns="0" bIns="0" rIns="0">
            <a:spAutoFit/>
          </a:bodyPr>
          <a:lstStyle/>
          <a:p>
            <a:pPr algn="l" marL="0" indent="0" lvl="0">
              <a:lnSpc>
                <a:spcPts val="7478"/>
              </a:lnSpc>
            </a:pPr>
            <a:r>
              <a:rPr lang="en-US" b="true" sz="6798" spc="-203">
                <a:solidFill>
                  <a:srgbClr val="1F191A"/>
                </a:solidFill>
                <a:latin typeface="Aileron Bold"/>
                <a:ea typeface="Aileron Bold"/>
                <a:cs typeface="Aileron Bold"/>
                <a:sym typeface="Aileron Bold"/>
              </a:rPr>
              <a:t>Apa itu Stateless Widget?</a:t>
            </a:r>
          </a:p>
        </p:txBody>
      </p:sp>
      <p:sp>
        <p:nvSpPr>
          <p:cNvPr name="Freeform 12" id="12"/>
          <p:cNvSpPr/>
          <p:nvPr/>
        </p:nvSpPr>
        <p:spPr>
          <a:xfrm flipH="false" flipV="false" rot="5400000">
            <a:off x="16135588" y="7880974"/>
            <a:ext cx="736376" cy="736376"/>
          </a:xfrm>
          <a:custGeom>
            <a:avLst/>
            <a:gdLst/>
            <a:ahLst/>
            <a:cxnLst/>
            <a:rect r="r" b="b" t="t" l="l"/>
            <a:pathLst>
              <a:path h="736376" w="736376">
                <a:moveTo>
                  <a:pt x="0" y="0"/>
                </a:moveTo>
                <a:lnTo>
                  <a:pt x="736377" y="0"/>
                </a:lnTo>
                <a:lnTo>
                  <a:pt x="736377" y="736376"/>
                </a:lnTo>
                <a:lnTo>
                  <a:pt x="0" y="736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7797934" y="3816751"/>
            <a:ext cx="9366116" cy="4511473"/>
          </a:xfrm>
          <a:prstGeom prst="rect">
            <a:avLst/>
          </a:prstGeom>
        </p:spPr>
        <p:txBody>
          <a:bodyPr anchor="t" rtlCol="false" tIns="0" lIns="0" bIns="0" rIns="0">
            <a:spAutoFit/>
          </a:bodyPr>
          <a:lstStyle/>
          <a:p>
            <a:pPr algn="r" marL="0" indent="0" lvl="0">
              <a:lnSpc>
                <a:spcPts val="4030"/>
              </a:lnSpc>
            </a:pPr>
            <a:r>
              <a:rPr lang="en-US" sz="2399" spc="98">
                <a:solidFill>
                  <a:srgbClr val="1F191A"/>
                </a:solidFill>
                <a:latin typeface="Open Sauce Light"/>
                <a:ea typeface="Open Sauce Light"/>
                <a:cs typeface="Open Sauce Light"/>
                <a:sym typeface="Open Sauce Light"/>
              </a:rPr>
              <a:t>Stateful widget adalah widget pada Flutter yang memiliki keadaan (state) yang dapat berubah selama aplikasi berjalan. Perubahan state ini memungkinkan tampilan widget diperbarui secara dinamis, misalnya karena interaksi pengguna, proses perhitungan, atau perubahan data lainnya. Stateful widget digunakan ketika antarmuka perlu merespons perubahan, seperti pada tombol penghitung, form input, animasi, atau komponen yang menampilkan data yang terus diperbarui.</a:t>
            </a:r>
          </a:p>
        </p:txBody>
      </p:sp>
      <p:sp>
        <p:nvSpPr>
          <p:cNvPr name="TextBox 3" id="3"/>
          <p:cNvSpPr txBox="true"/>
          <p:nvPr/>
        </p:nvSpPr>
        <p:spPr>
          <a:xfrm rot="0">
            <a:off x="3999003" y="1238250"/>
            <a:ext cx="13165047" cy="2104594"/>
          </a:xfrm>
          <a:prstGeom prst="rect">
            <a:avLst/>
          </a:prstGeom>
        </p:spPr>
        <p:txBody>
          <a:bodyPr anchor="t" rtlCol="false" tIns="0" lIns="0" bIns="0" rIns="0">
            <a:spAutoFit/>
          </a:bodyPr>
          <a:lstStyle/>
          <a:p>
            <a:pPr algn="r" marL="0" indent="0" lvl="0">
              <a:lnSpc>
                <a:spcPts val="8212"/>
              </a:lnSpc>
            </a:pPr>
            <a:r>
              <a:rPr lang="en-US" b="true" sz="7466" spc="-223">
                <a:solidFill>
                  <a:srgbClr val="EF4434"/>
                </a:solidFill>
                <a:latin typeface="Aileron Bold"/>
                <a:ea typeface="Aileron Bold"/>
                <a:cs typeface="Aileron Bold"/>
                <a:sym typeface="Aileron Bold"/>
              </a:rPr>
              <a:t>Bagaimana dengan Stateful Widget?</a:t>
            </a:r>
          </a:p>
        </p:txBody>
      </p:sp>
      <p:sp>
        <p:nvSpPr>
          <p:cNvPr name="Freeform 4" id="4"/>
          <p:cNvSpPr/>
          <p:nvPr/>
        </p:nvSpPr>
        <p:spPr>
          <a:xfrm flipH="false" flipV="false" rot="0">
            <a:off x="-342900" y="2829942"/>
            <a:ext cx="6666868" cy="6771258"/>
          </a:xfrm>
          <a:custGeom>
            <a:avLst/>
            <a:gdLst/>
            <a:ahLst/>
            <a:cxnLst/>
            <a:rect r="r" b="b" t="t" l="l"/>
            <a:pathLst>
              <a:path h="6771258" w="6666868">
                <a:moveTo>
                  <a:pt x="0" y="0"/>
                </a:moveTo>
                <a:lnTo>
                  <a:pt x="6666868" y="0"/>
                </a:lnTo>
                <a:lnTo>
                  <a:pt x="6666868" y="6771258"/>
                </a:lnTo>
                <a:lnTo>
                  <a:pt x="0" y="6771258"/>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8306525" y="5053020"/>
            <a:ext cx="6074769" cy="607476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6843"/>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5" id="5"/>
          <p:cNvSpPr/>
          <p:nvPr/>
        </p:nvSpPr>
        <p:spPr>
          <a:xfrm flipH="false" flipV="false" rot="0">
            <a:off x="8922778" y="858792"/>
            <a:ext cx="7926153" cy="9996200"/>
          </a:xfrm>
          <a:custGeom>
            <a:avLst/>
            <a:gdLst/>
            <a:ahLst/>
            <a:cxnLst/>
            <a:rect r="r" b="b" t="t" l="l"/>
            <a:pathLst>
              <a:path h="9996200" w="7926153">
                <a:moveTo>
                  <a:pt x="0" y="0"/>
                </a:moveTo>
                <a:lnTo>
                  <a:pt x="7926153" y="0"/>
                </a:lnTo>
                <a:lnTo>
                  <a:pt x="7926153" y="9996200"/>
                </a:lnTo>
                <a:lnTo>
                  <a:pt x="0" y="9996200"/>
                </a:lnTo>
                <a:lnTo>
                  <a:pt x="0" y="0"/>
                </a:lnTo>
                <a:close/>
              </a:path>
            </a:pathLst>
          </a:custGeom>
          <a:blipFill>
            <a:blip r:embed="rId2"/>
            <a:stretch>
              <a:fillRect l="0" t="0" r="0" b="0"/>
            </a:stretch>
          </a:blipFill>
        </p:spPr>
      </p:sp>
      <p:sp>
        <p:nvSpPr>
          <p:cNvPr name="TextBox 6" id="6"/>
          <p:cNvSpPr txBox="true"/>
          <p:nvPr/>
        </p:nvSpPr>
        <p:spPr>
          <a:xfrm rot="0">
            <a:off x="1238250" y="1209675"/>
            <a:ext cx="8935320" cy="2586268"/>
          </a:xfrm>
          <a:prstGeom prst="rect">
            <a:avLst/>
          </a:prstGeom>
        </p:spPr>
        <p:txBody>
          <a:bodyPr anchor="t" rtlCol="false" tIns="0" lIns="0" bIns="0" rIns="0">
            <a:spAutoFit/>
          </a:bodyPr>
          <a:lstStyle/>
          <a:p>
            <a:pPr algn="l" marL="0" indent="0" lvl="0">
              <a:lnSpc>
                <a:spcPts val="9946"/>
              </a:lnSpc>
            </a:pPr>
            <a:r>
              <a:rPr lang="en-US" b="true" sz="9946" spc="-298">
                <a:solidFill>
                  <a:srgbClr val="1F191A"/>
                </a:solidFill>
                <a:latin typeface="Aileron Bold"/>
                <a:ea typeface="Aileron Bold"/>
                <a:cs typeface="Aileron Bold"/>
                <a:sym typeface="Aileron Bold"/>
              </a:rPr>
              <a:t>DOKUMENTASI ANGGOTA </a:t>
            </a:r>
          </a:p>
        </p:txBody>
      </p:sp>
      <p:sp>
        <p:nvSpPr>
          <p:cNvPr name="TextBox 7" id="7"/>
          <p:cNvSpPr txBox="true"/>
          <p:nvPr/>
        </p:nvSpPr>
        <p:spPr>
          <a:xfrm rot="0">
            <a:off x="1353628" y="3930103"/>
            <a:ext cx="4855054" cy="931567"/>
          </a:xfrm>
          <a:prstGeom prst="rect">
            <a:avLst/>
          </a:prstGeom>
        </p:spPr>
        <p:txBody>
          <a:bodyPr anchor="t" rtlCol="false" tIns="0" lIns="0" bIns="0" rIns="0">
            <a:spAutoFit/>
          </a:bodyPr>
          <a:lstStyle/>
          <a:p>
            <a:pPr algn="l" marL="0" indent="0" lvl="0">
              <a:lnSpc>
                <a:spcPts val="3778"/>
              </a:lnSpc>
              <a:spcBef>
                <a:spcPct val="0"/>
              </a:spcBef>
            </a:pPr>
            <a:r>
              <a:rPr lang="en-US" b="true" sz="2699" spc="-26">
                <a:solidFill>
                  <a:srgbClr val="1F191A"/>
                </a:solidFill>
                <a:latin typeface="Open Sauce Bold"/>
                <a:ea typeface="Open Sauce Bold"/>
                <a:cs typeface="Open Sauce Bold"/>
                <a:sym typeface="Open Sauce Bold"/>
              </a:rPr>
              <a:t>Berdasarkan Project Row, Column &amp; Stack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12592020" y="6037248"/>
            <a:ext cx="8499504" cy="84995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a:ln cap="sq">
              <a:no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8"/>
                </a:lnSpc>
                <a:spcBef>
                  <a:spcPct val="0"/>
                </a:spcBef>
              </a:pPr>
            </a:p>
          </p:txBody>
        </p:sp>
      </p:grpSp>
      <p:grpSp>
        <p:nvGrpSpPr>
          <p:cNvPr name="Group 5" id="5"/>
          <p:cNvGrpSpPr/>
          <p:nvPr/>
        </p:nvGrpSpPr>
        <p:grpSpPr>
          <a:xfrm rot="0">
            <a:off x="8938765" y="-1521772"/>
            <a:ext cx="5272395" cy="52723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8" id="8"/>
          <p:cNvSpPr/>
          <p:nvPr/>
        </p:nvSpPr>
        <p:spPr>
          <a:xfrm flipH="false" flipV="false" rot="0">
            <a:off x="9774647" y="7279466"/>
            <a:ext cx="3309549" cy="1978834"/>
          </a:xfrm>
          <a:custGeom>
            <a:avLst/>
            <a:gdLst/>
            <a:ahLst/>
            <a:cxnLst/>
            <a:rect r="r" b="b" t="t" l="l"/>
            <a:pathLst>
              <a:path h="1978834" w="3309549">
                <a:moveTo>
                  <a:pt x="0" y="0"/>
                </a:moveTo>
                <a:lnTo>
                  <a:pt x="3309549" y="0"/>
                </a:lnTo>
                <a:lnTo>
                  <a:pt x="3309549" y="1978834"/>
                </a:lnTo>
                <a:lnTo>
                  <a:pt x="0" y="1978834"/>
                </a:lnTo>
                <a:lnTo>
                  <a:pt x="0" y="0"/>
                </a:lnTo>
                <a:close/>
              </a:path>
            </a:pathLst>
          </a:custGeom>
          <a:blipFill>
            <a:blip r:embed="rId2"/>
            <a:stretch>
              <a:fillRect l="0" t="0" r="0" b="0"/>
            </a:stretch>
          </a:blipFill>
        </p:spPr>
      </p:sp>
      <p:sp>
        <p:nvSpPr>
          <p:cNvPr name="Freeform 9" id="9"/>
          <p:cNvSpPr/>
          <p:nvPr/>
        </p:nvSpPr>
        <p:spPr>
          <a:xfrm flipH="false" flipV="false" rot="-846066">
            <a:off x="16711024" y="108839"/>
            <a:ext cx="1118000" cy="1815426"/>
          </a:xfrm>
          <a:custGeom>
            <a:avLst/>
            <a:gdLst/>
            <a:ahLst/>
            <a:cxnLst/>
            <a:rect r="r" b="b" t="t" l="l"/>
            <a:pathLst>
              <a:path h="1815426" w="1118000">
                <a:moveTo>
                  <a:pt x="0" y="0"/>
                </a:moveTo>
                <a:lnTo>
                  <a:pt x="1118000" y="0"/>
                </a:lnTo>
                <a:lnTo>
                  <a:pt x="1118000" y="1815427"/>
                </a:lnTo>
                <a:lnTo>
                  <a:pt x="0" y="1815427"/>
                </a:lnTo>
                <a:lnTo>
                  <a:pt x="0" y="0"/>
                </a:lnTo>
                <a:close/>
              </a:path>
            </a:pathLst>
          </a:custGeom>
          <a:blipFill>
            <a:blip r:embed="rId3"/>
            <a:stretch>
              <a:fillRect l="0" t="0" r="0" b="0"/>
            </a:stretch>
          </a:blipFill>
        </p:spPr>
      </p:sp>
      <p:sp>
        <p:nvSpPr>
          <p:cNvPr name="Freeform 10" id="10"/>
          <p:cNvSpPr/>
          <p:nvPr/>
        </p:nvSpPr>
        <p:spPr>
          <a:xfrm flipH="false" flipV="false" rot="0">
            <a:off x="9543892" y="1304711"/>
            <a:ext cx="8101192" cy="2021319"/>
          </a:xfrm>
          <a:custGeom>
            <a:avLst/>
            <a:gdLst/>
            <a:ahLst/>
            <a:cxnLst/>
            <a:rect r="r" b="b" t="t" l="l"/>
            <a:pathLst>
              <a:path h="2021319" w="8101192">
                <a:moveTo>
                  <a:pt x="0" y="0"/>
                </a:moveTo>
                <a:lnTo>
                  <a:pt x="8101192" y="0"/>
                </a:lnTo>
                <a:lnTo>
                  <a:pt x="8101192" y="2021319"/>
                </a:lnTo>
                <a:lnTo>
                  <a:pt x="0" y="2021319"/>
                </a:lnTo>
                <a:lnTo>
                  <a:pt x="0" y="0"/>
                </a:lnTo>
                <a:close/>
              </a:path>
            </a:pathLst>
          </a:custGeom>
          <a:blipFill>
            <a:blip r:embed="rId4"/>
            <a:stretch>
              <a:fillRect l="0" t="0" r="0" b="0"/>
            </a:stretch>
          </a:blipFill>
        </p:spPr>
      </p:sp>
      <p:sp>
        <p:nvSpPr>
          <p:cNvPr name="Freeform 11" id="11"/>
          <p:cNvSpPr/>
          <p:nvPr/>
        </p:nvSpPr>
        <p:spPr>
          <a:xfrm flipH="false" flipV="false" rot="0">
            <a:off x="9144000" y="3456717"/>
            <a:ext cx="7090046" cy="1980228"/>
          </a:xfrm>
          <a:custGeom>
            <a:avLst/>
            <a:gdLst/>
            <a:ahLst/>
            <a:cxnLst/>
            <a:rect r="r" b="b" t="t" l="l"/>
            <a:pathLst>
              <a:path h="1980228" w="7090046">
                <a:moveTo>
                  <a:pt x="0" y="0"/>
                </a:moveTo>
                <a:lnTo>
                  <a:pt x="7090046" y="0"/>
                </a:lnTo>
                <a:lnTo>
                  <a:pt x="7090046" y="1980227"/>
                </a:lnTo>
                <a:lnTo>
                  <a:pt x="0" y="1980227"/>
                </a:lnTo>
                <a:lnTo>
                  <a:pt x="0" y="0"/>
                </a:lnTo>
                <a:close/>
              </a:path>
            </a:pathLst>
          </a:custGeom>
          <a:blipFill>
            <a:blip r:embed="rId5"/>
            <a:stretch>
              <a:fillRect l="0" t="0" r="0" b="0"/>
            </a:stretch>
          </a:blipFill>
        </p:spPr>
      </p:sp>
      <p:sp>
        <p:nvSpPr>
          <p:cNvPr name="Freeform 12" id="12"/>
          <p:cNvSpPr/>
          <p:nvPr/>
        </p:nvSpPr>
        <p:spPr>
          <a:xfrm flipH="false" flipV="false" rot="0">
            <a:off x="10056096" y="5687308"/>
            <a:ext cx="6785675" cy="3407153"/>
          </a:xfrm>
          <a:custGeom>
            <a:avLst/>
            <a:gdLst/>
            <a:ahLst/>
            <a:cxnLst/>
            <a:rect r="r" b="b" t="t" l="l"/>
            <a:pathLst>
              <a:path h="3407153" w="6785675">
                <a:moveTo>
                  <a:pt x="0" y="0"/>
                </a:moveTo>
                <a:lnTo>
                  <a:pt x="6785676" y="0"/>
                </a:lnTo>
                <a:lnTo>
                  <a:pt x="6785676" y="3407154"/>
                </a:lnTo>
                <a:lnTo>
                  <a:pt x="0" y="3407154"/>
                </a:lnTo>
                <a:lnTo>
                  <a:pt x="0" y="0"/>
                </a:lnTo>
                <a:close/>
              </a:path>
            </a:pathLst>
          </a:custGeom>
          <a:blipFill>
            <a:blip r:embed="rId6"/>
            <a:stretch>
              <a:fillRect l="0" t="0" r="0" b="0"/>
            </a:stretch>
          </a:blipFill>
        </p:spPr>
      </p:sp>
      <p:sp>
        <p:nvSpPr>
          <p:cNvPr name="Freeform 13" id="13"/>
          <p:cNvSpPr/>
          <p:nvPr/>
        </p:nvSpPr>
        <p:spPr>
          <a:xfrm flipH="false" flipV="false" rot="0">
            <a:off x="1394699" y="5141653"/>
            <a:ext cx="7197542" cy="4498464"/>
          </a:xfrm>
          <a:custGeom>
            <a:avLst/>
            <a:gdLst/>
            <a:ahLst/>
            <a:cxnLst/>
            <a:rect r="r" b="b" t="t" l="l"/>
            <a:pathLst>
              <a:path h="4498464" w="7197542">
                <a:moveTo>
                  <a:pt x="0" y="0"/>
                </a:moveTo>
                <a:lnTo>
                  <a:pt x="7197542" y="0"/>
                </a:lnTo>
                <a:lnTo>
                  <a:pt x="7197542" y="4498464"/>
                </a:lnTo>
                <a:lnTo>
                  <a:pt x="0" y="4498464"/>
                </a:lnTo>
                <a:lnTo>
                  <a:pt x="0" y="0"/>
                </a:lnTo>
                <a:close/>
              </a:path>
            </a:pathLst>
          </a:custGeom>
          <a:blipFill>
            <a:blip r:embed="rId7"/>
            <a:stretch>
              <a:fillRect l="0" t="0" r="0" b="0"/>
            </a:stretch>
          </a:blipFill>
        </p:spPr>
      </p:sp>
      <p:sp>
        <p:nvSpPr>
          <p:cNvPr name="TextBox 14" id="14"/>
          <p:cNvSpPr txBox="true"/>
          <p:nvPr/>
        </p:nvSpPr>
        <p:spPr>
          <a:xfrm rot="0">
            <a:off x="1394699" y="702086"/>
            <a:ext cx="8379949" cy="3952888"/>
          </a:xfrm>
          <a:prstGeom prst="rect">
            <a:avLst/>
          </a:prstGeom>
        </p:spPr>
        <p:txBody>
          <a:bodyPr anchor="t" rtlCol="false" tIns="0" lIns="0" bIns="0" rIns="0">
            <a:spAutoFit/>
          </a:bodyPr>
          <a:lstStyle/>
          <a:p>
            <a:pPr algn="l" marL="0" indent="0" lvl="0">
              <a:lnSpc>
                <a:spcPts val="10195"/>
              </a:lnSpc>
              <a:spcBef>
                <a:spcPct val="0"/>
              </a:spcBef>
            </a:pPr>
            <a:r>
              <a:rPr lang="en-US" sz="10195" spc="-305">
                <a:solidFill>
                  <a:srgbClr val="1F191A"/>
                </a:solidFill>
                <a:latin typeface="Aileron"/>
                <a:ea typeface="Aileron"/>
                <a:cs typeface="Aileron"/>
                <a:sym typeface="Aileron"/>
              </a:rPr>
              <a:t>Perubahan Warna dan Posisi </a:t>
            </a:r>
          </a:p>
        </p:txBody>
      </p:sp>
      <p:sp>
        <p:nvSpPr>
          <p:cNvPr name="TextBox 15" id="15"/>
          <p:cNvSpPr txBox="true"/>
          <p:nvPr/>
        </p:nvSpPr>
        <p:spPr>
          <a:xfrm rot="0">
            <a:off x="1572388" y="4626398"/>
            <a:ext cx="5838681" cy="363824"/>
          </a:xfrm>
          <a:prstGeom prst="rect">
            <a:avLst/>
          </a:prstGeom>
        </p:spPr>
        <p:txBody>
          <a:bodyPr anchor="t" rtlCol="false" tIns="0" lIns="0" bIns="0" rIns="0">
            <a:spAutoFit/>
          </a:bodyPr>
          <a:lstStyle/>
          <a:p>
            <a:pPr algn="l" marL="0" indent="0" lvl="0">
              <a:lnSpc>
                <a:spcPts val="3085"/>
              </a:lnSpc>
              <a:spcBef>
                <a:spcPct val="0"/>
              </a:spcBef>
            </a:pPr>
            <a:r>
              <a:rPr lang="en-US" sz="2203" spc="-22">
                <a:solidFill>
                  <a:srgbClr val="1F191A"/>
                </a:solidFill>
                <a:latin typeface="Open Sauce Light"/>
                <a:ea typeface="Open Sauce Light"/>
                <a:cs typeface="Open Sauce Light"/>
                <a:sym typeface="Open Sauce Light"/>
              </a:rPr>
              <a:t>@Elsa2801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12592020" y="6037248"/>
            <a:ext cx="8499504" cy="84995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a:ln cap="sq">
              <a:no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8"/>
                </a:lnSpc>
                <a:spcBef>
                  <a:spcPct val="0"/>
                </a:spcBef>
              </a:pPr>
            </a:p>
          </p:txBody>
        </p:sp>
      </p:grpSp>
      <p:grpSp>
        <p:nvGrpSpPr>
          <p:cNvPr name="Group 5" id="5"/>
          <p:cNvGrpSpPr/>
          <p:nvPr/>
        </p:nvGrpSpPr>
        <p:grpSpPr>
          <a:xfrm rot="0">
            <a:off x="8938765" y="-1521772"/>
            <a:ext cx="5272395" cy="52723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8" id="8"/>
          <p:cNvSpPr/>
          <p:nvPr/>
        </p:nvSpPr>
        <p:spPr>
          <a:xfrm flipH="false" flipV="false" rot="0">
            <a:off x="9774647" y="7279466"/>
            <a:ext cx="3309549" cy="1978834"/>
          </a:xfrm>
          <a:custGeom>
            <a:avLst/>
            <a:gdLst/>
            <a:ahLst/>
            <a:cxnLst/>
            <a:rect r="r" b="b" t="t" l="l"/>
            <a:pathLst>
              <a:path h="1978834" w="3309549">
                <a:moveTo>
                  <a:pt x="0" y="0"/>
                </a:moveTo>
                <a:lnTo>
                  <a:pt x="3309549" y="0"/>
                </a:lnTo>
                <a:lnTo>
                  <a:pt x="3309549" y="1978834"/>
                </a:lnTo>
                <a:lnTo>
                  <a:pt x="0" y="1978834"/>
                </a:lnTo>
                <a:lnTo>
                  <a:pt x="0" y="0"/>
                </a:lnTo>
                <a:close/>
              </a:path>
            </a:pathLst>
          </a:custGeom>
          <a:blipFill>
            <a:blip r:embed="rId2"/>
            <a:stretch>
              <a:fillRect l="0" t="0" r="0" b="0"/>
            </a:stretch>
          </a:blipFill>
        </p:spPr>
      </p:sp>
      <p:sp>
        <p:nvSpPr>
          <p:cNvPr name="Freeform 9" id="9"/>
          <p:cNvSpPr/>
          <p:nvPr/>
        </p:nvSpPr>
        <p:spPr>
          <a:xfrm flipH="false" flipV="false" rot="-846066">
            <a:off x="16711024" y="108839"/>
            <a:ext cx="1118000" cy="1815426"/>
          </a:xfrm>
          <a:custGeom>
            <a:avLst/>
            <a:gdLst/>
            <a:ahLst/>
            <a:cxnLst/>
            <a:rect r="r" b="b" t="t" l="l"/>
            <a:pathLst>
              <a:path h="1815426" w="1118000">
                <a:moveTo>
                  <a:pt x="0" y="0"/>
                </a:moveTo>
                <a:lnTo>
                  <a:pt x="1118000" y="0"/>
                </a:lnTo>
                <a:lnTo>
                  <a:pt x="1118000" y="1815427"/>
                </a:lnTo>
                <a:lnTo>
                  <a:pt x="0" y="1815427"/>
                </a:lnTo>
                <a:lnTo>
                  <a:pt x="0" y="0"/>
                </a:lnTo>
                <a:close/>
              </a:path>
            </a:pathLst>
          </a:custGeom>
          <a:blipFill>
            <a:blip r:embed="rId3"/>
            <a:stretch>
              <a:fillRect l="0" t="0" r="0" b="0"/>
            </a:stretch>
          </a:blipFill>
        </p:spPr>
      </p:sp>
      <p:sp>
        <p:nvSpPr>
          <p:cNvPr name="Freeform 10" id="10"/>
          <p:cNvSpPr/>
          <p:nvPr/>
        </p:nvSpPr>
        <p:spPr>
          <a:xfrm flipH="false" flipV="false" rot="0">
            <a:off x="10121501" y="176051"/>
            <a:ext cx="6312860" cy="3142726"/>
          </a:xfrm>
          <a:custGeom>
            <a:avLst/>
            <a:gdLst/>
            <a:ahLst/>
            <a:cxnLst/>
            <a:rect r="r" b="b" t="t" l="l"/>
            <a:pathLst>
              <a:path h="3142726" w="6312860">
                <a:moveTo>
                  <a:pt x="0" y="0"/>
                </a:moveTo>
                <a:lnTo>
                  <a:pt x="6312860" y="0"/>
                </a:lnTo>
                <a:lnTo>
                  <a:pt x="6312860" y="3142726"/>
                </a:lnTo>
                <a:lnTo>
                  <a:pt x="0" y="3142726"/>
                </a:lnTo>
                <a:lnTo>
                  <a:pt x="0" y="0"/>
                </a:lnTo>
                <a:close/>
              </a:path>
            </a:pathLst>
          </a:custGeom>
          <a:blipFill>
            <a:blip r:embed="rId4"/>
            <a:stretch>
              <a:fillRect l="0" t="0" r="0" b="0"/>
            </a:stretch>
          </a:blipFill>
        </p:spPr>
      </p:sp>
      <p:sp>
        <p:nvSpPr>
          <p:cNvPr name="Freeform 11" id="11"/>
          <p:cNvSpPr/>
          <p:nvPr/>
        </p:nvSpPr>
        <p:spPr>
          <a:xfrm flipH="false" flipV="false" rot="0">
            <a:off x="10121501" y="3491349"/>
            <a:ext cx="6312860" cy="6592190"/>
          </a:xfrm>
          <a:custGeom>
            <a:avLst/>
            <a:gdLst/>
            <a:ahLst/>
            <a:cxnLst/>
            <a:rect r="r" b="b" t="t" l="l"/>
            <a:pathLst>
              <a:path h="6592190" w="6312860">
                <a:moveTo>
                  <a:pt x="0" y="0"/>
                </a:moveTo>
                <a:lnTo>
                  <a:pt x="6312860" y="0"/>
                </a:lnTo>
                <a:lnTo>
                  <a:pt x="6312860" y="6592190"/>
                </a:lnTo>
                <a:lnTo>
                  <a:pt x="0" y="6592190"/>
                </a:lnTo>
                <a:lnTo>
                  <a:pt x="0" y="0"/>
                </a:lnTo>
                <a:close/>
              </a:path>
            </a:pathLst>
          </a:custGeom>
          <a:blipFill>
            <a:blip r:embed="rId5"/>
            <a:stretch>
              <a:fillRect l="0" t="0" r="0" b="0"/>
            </a:stretch>
          </a:blipFill>
        </p:spPr>
      </p:sp>
      <p:sp>
        <p:nvSpPr>
          <p:cNvPr name="Freeform 12" id="12"/>
          <p:cNvSpPr/>
          <p:nvPr/>
        </p:nvSpPr>
        <p:spPr>
          <a:xfrm flipH="false" flipV="false" rot="0">
            <a:off x="1516177" y="3345081"/>
            <a:ext cx="5673585" cy="2850493"/>
          </a:xfrm>
          <a:custGeom>
            <a:avLst/>
            <a:gdLst/>
            <a:ahLst/>
            <a:cxnLst/>
            <a:rect r="r" b="b" t="t" l="l"/>
            <a:pathLst>
              <a:path h="2850493" w="5673585">
                <a:moveTo>
                  <a:pt x="0" y="0"/>
                </a:moveTo>
                <a:lnTo>
                  <a:pt x="5673586" y="0"/>
                </a:lnTo>
                <a:lnTo>
                  <a:pt x="5673586" y="2850492"/>
                </a:lnTo>
                <a:lnTo>
                  <a:pt x="0" y="2850492"/>
                </a:lnTo>
                <a:lnTo>
                  <a:pt x="0" y="0"/>
                </a:lnTo>
                <a:close/>
              </a:path>
            </a:pathLst>
          </a:custGeom>
          <a:blipFill>
            <a:blip r:embed="rId6"/>
            <a:stretch>
              <a:fillRect l="0" t="-62981" r="-39311" b="-68550"/>
            </a:stretch>
          </a:blipFill>
        </p:spPr>
      </p:sp>
      <p:sp>
        <p:nvSpPr>
          <p:cNvPr name="Freeform 13" id="13"/>
          <p:cNvSpPr/>
          <p:nvPr/>
        </p:nvSpPr>
        <p:spPr>
          <a:xfrm flipH="false" flipV="false" rot="0">
            <a:off x="3682806" y="6347973"/>
            <a:ext cx="5598503" cy="3515061"/>
          </a:xfrm>
          <a:custGeom>
            <a:avLst/>
            <a:gdLst/>
            <a:ahLst/>
            <a:cxnLst/>
            <a:rect r="r" b="b" t="t" l="l"/>
            <a:pathLst>
              <a:path h="3515061" w="5598503">
                <a:moveTo>
                  <a:pt x="0" y="0"/>
                </a:moveTo>
                <a:lnTo>
                  <a:pt x="5598503" y="0"/>
                </a:lnTo>
                <a:lnTo>
                  <a:pt x="5598503" y="3515062"/>
                </a:lnTo>
                <a:lnTo>
                  <a:pt x="0" y="3515062"/>
                </a:lnTo>
                <a:lnTo>
                  <a:pt x="0" y="0"/>
                </a:lnTo>
                <a:close/>
              </a:path>
            </a:pathLst>
          </a:custGeom>
          <a:blipFill>
            <a:blip r:embed="rId7"/>
            <a:stretch>
              <a:fillRect l="-1341" t="-43422" r="0" b="-37426"/>
            </a:stretch>
          </a:blipFill>
        </p:spPr>
      </p:sp>
      <p:sp>
        <p:nvSpPr>
          <p:cNvPr name="TextBox 14" id="14"/>
          <p:cNvSpPr txBox="true"/>
          <p:nvPr/>
        </p:nvSpPr>
        <p:spPr>
          <a:xfrm rot="0">
            <a:off x="298392" y="318926"/>
            <a:ext cx="8379949" cy="2876458"/>
          </a:xfrm>
          <a:prstGeom prst="rect">
            <a:avLst/>
          </a:prstGeom>
        </p:spPr>
        <p:txBody>
          <a:bodyPr anchor="t" rtlCol="false" tIns="0" lIns="0" bIns="0" rIns="0">
            <a:spAutoFit/>
          </a:bodyPr>
          <a:lstStyle/>
          <a:p>
            <a:pPr algn="l" marL="0" indent="0" lvl="0">
              <a:lnSpc>
                <a:spcPts val="7496"/>
              </a:lnSpc>
              <a:spcBef>
                <a:spcPct val="0"/>
              </a:spcBef>
            </a:pPr>
            <a:r>
              <a:rPr lang="en-US" sz="7496" spc="-224">
                <a:solidFill>
                  <a:srgbClr val="1F191A"/>
                </a:solidFill>
                <a:latin typeface="Aileron"/>
                <a:ea typeface="Aileron"/>
                <a:cs typeface="Aileron"/>
                <a:sym typeface="Aileron"/>
              </a:rPr>
              <a:t>Penambahan tombol tambah  item pada bagian column </a:t>
            </a:r>
          </a:p>
        </p:txBody>
      </p:sp>
      <p:sp>
        <p:nvSpPr>
          <p:cNvPr name="TextBox 15" id="15"/>
          <p:cNvSpPr txBox="true"/>
          <p:nvPr/>
        </p:nvSpPr>
        <p:spPr>
          <a:xfrm rot="0">
            <a:off x="298392" y="3453249"/>
            <a:ext cx="907453" cy="372745"/>
          </a:xfrm>
          <a:prstGeom prst="rect">
            <a:avLst/>
          </a:prstGeom>
        </p:spPr>
        <p:txBody>
          <a:bodyPr anchor="t" rtlCol="false" tIns="0" lIns="0" bIns="0" rIns="0">
            <a:spAutoFit/>
          </a:bodyPr>
          <a:lstStyle/>
          <a:p>
            <a:pPr algn="l">
              <a:lnSpc>
                <a:spcPts val="3079"/>
              </a:lnSpc>
              <a:spcBef>
                <a:spcPct val="0"/>
              </a:spcBef>
            </a:pPr>
            <a:r>
              <a:rPr lang="en-US" sz="2199" spc="-21">
                <a:solidFill>
                  <a:srgbClr val="1F191A"/>
                </a:solidFill>
                <a:latin typeface="Open Sauce Light"/>
                <a:ea typeface="Open Sauce Light"/>
                <a:cs typeface="Open Sauce Light"/>
                <a:sym typeface="Open Sauce Light"/>
              </a:rPr>
              <a:t>@hera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12592020" y="6037248"/>
            <a:ext cx="8499504" cy="84995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a:ln cap="sq">
              <a:no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8"/>
                </a:lnSpc>
                <a:spcBef>
                  <a:spcPct val="0"/>
                </a:spcBef>
              </a:pPr>
            </a:p>
          </p:txBody>
        </p:sp>
      </p:grpSp>
      <p:grpSp>
        <p:nvGrpSpPr>
          <p:cNvPr name="Group 5" id="5"/>
          <p:cNvGrpSpPr/>
          <p:nvPr/>
        </p:nvGrpSpPr>
        <p:grpSpPr>
          <a:xfrm rot="0">
            <a:off x="8938765" y="-1521772"/>
            <a:ext cx="5272395" cy="52723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8" id="8"/>
          <p:cNvSpPr/>
          <p:nvPr/>
        </p:nvSpPr>
        <p:spPr>
          <a:xfrm flipH="false" flipV="false" rot="0">
            <a:off x="9774647" y="7279466"/>
            <a:ext cx="3309549" cy="1978834"/>
          </a:xfrm>
          <a:custGeom>
            <a:avLst/>
            <a:gdLst/>
            <a:ahLst/>
            <a:cxnLst/>
            <a:rect r="r" b="b" t="t" l="l"/>
            <a:pathLst>
              <a:path h="1978834" w="3309549">
                <a:moveTo>
                  <a:pt x="0" y="0"/>
                </a:moveTo>
                <a:lnTo>
                  <a:pt x="3309549" y="0"/>
                </a:lnTo>
                <a:lnTo>
                  <a:pt x="3309549" y="1978834"/>
                </a:lnTo>
                <a:lnTo>
                  <a:pt x="0" y="1978834"/>
                </a:lnTo>
                <a:lnTo>
                  <a:pt x="0" y="0"/>
                </a:lnTo>
                <a:close/>
              </a:path>
            </a:pathLst>
          </a:custGeom>
          <a:blipFill>
            <a:blip r:embed="rId2"/>
            <a:stretch>
              <a:fillRect l="0" t="0" r="0" b="0"/>
            </a:stretch>
          </a:blipFill>
        </p:spPr>
      </p:sp>
      <p:sp>
        <p:nvSpPr>
          <p:cNvPr name="Freeform 9" id="9"/>
          <p:cNvSpPr/>
          <p:nvPr/>
        </p:nvSpPr>
        <p:spPr>
          <a:xfrm flipH="false" flipV="false" rot="-846066">
            <a:off x="16711024" y="108839"/>
            <a:ext cx="1118000" cy="1815426"/>
          </a:xfrm>
          <a:custGeom>
            <a:avLst/>
            <a:gdLst/>
            <a:ahLst/>
            <a:cxnLst/>
            <a:rect r="r" b="b" t="t" l="l"/>
            <a:pathLst>
              <a:path h="1815426" w="1118000">
                <a:moveTo>
                  <a:pt x="0" y="0"/>
                </a:moveTo>
                <a:lnTo>
                  <a:pt x="1118000" y="0"/>
                </a:lnTo>
                <a:lnTo>
                  <a:pt x="1118000" y="1815427"/>
                </a:lnTo>
                <a:lnTo>
                  <a:pt x="0" y="1815427"/>
                </a:lnTo>
                <a:lnTo>
                  <a:pt x="0" y="0"/>
                </a:lnTo>
                <a:close/>
              </a:path>
            </a:pathLst>
          </a:custGeom>
          <a:blipFill>
            <a:blip r:embed="rId3"/>
            <a:stretch>
              <a:fillRect l="0" t="0" r="0" b="0"/>
            </a:stretch>
          </a:blipFill>
        </p:spPr>
      </p:sp>
      <p:sp>
        <p:nvSpPr>
          <p:cNvPr name="Freeform 10" id="10"/>
          <p:cNvSpPr/>
          <p:nvPr/>
        </p:nvSpPr>
        <p:spPr>
          <a:xfrm flipH="false" flipV="false" rot="0">
            <a:off x="1554898" y="3136859"/>
            <a:ext cx="8456426" cy="2505216"/>
          </a:xfrm>
          <a:custGeom>
            <a:avLst/>
            <a:gdLst/>
            <a:ahLst/>
            <a:cxnLst/>
            <a:rect r="r" b="b" t="t" l="l"/>
            <a:pathLst>
              <a:path h="2505216" w="8456426">
                <a:moveTo>
                  <a:pt x="0" y="0"/>
                </a:moveTo>
                <a:lnTo>
                  <a:pt x="8456427" y="0"/>
                </a:lnTo>
                <a:lnTo>
                  <a:pt x="8456427" y="2505216"/>
                </a:lnTo>
                <a:lnTo>
                  <a:pt x="0" y="2505216"/>
                </a:lnTo>
                <a:lnTo>
                  <a:pt x="0" y="0"/>
                </a:lnTo>
                <a:close/>
              </a:path>
            </a:pathLst>
          </a:custGeom>
          <a:blipFill>
            <a:blip r:embed="rId4"/>
            <a:stretch>
              <a:fillRect l="0" t="0" r="0" b="0"/>
            </a:stretch>
          </a:blipFill>
        </p:spPr>
      </p:sp>
      <p:sp>
        <p:nvSpPr>
          <p:cNvPr name="TextBox 11" id="11"/>
          <p:cNvSpPr txBox="true"/>
          <p:nvPr/>
        </p:nvSpPr>
        <p:spPr>
          <a:xfrm rot="0">
            <a:off x="1394699" y="1152525"/>
            <a:ext cx="8379949" cy="1574074"/>
          </a:xfrm>
          <a:prstGeom prst="rect">
            <a:avLst/>
          </a:prstGeom>
        </p:spPr>
        <p:txBody>
          <a:bodyPr anchor="t" rtlCol="false" tIns="0" lIns="0" bIns="0" rIns="0">
            <a:spAutoFit/>
          </a:bodyPr>
          <a:lstStyle/>
          <a:p>
            <a:pPr algn="l">
              <a:lnSpc>
                <a:spcPts val="6096"/>
              </a:lnSpc>
            </a:pPr>
            <a:r>
              <a:rPr lang="en-US" sz="6096" spc="-182">
                <a:solidFill>
                  <a:srgbClr val="1F191A"/>
                </a:solidFill>
                <a:latin typeface="Aileron"/>
                <a:ea typeface="Aileron"/>
                <a:cs typeface="Aileron"/>
                <a:sym typeface="Aileron"/>
              </a:rPr>
              <a:t>Kode penggunaan</a:t>
            </a:r>
          </a:p>
          <a:p>
            <a:pPr algn="l" marL="0" indent="0" lvl="0">
              <a:lnSpc>
                <a:spcPts val="6096"/>
              </a:lnSpc>
              <a:spcBef>
                <a:spcPct val="0"/>
              </a:spcBef>
            </a:pPr>
            <a:r>
              <a:rPr lang="en-US" sz="6096" spc="-182">
                <a:solidFill>
                  <a:srgbClr val="1F191A"/>
                </a:solidFill>
                <a:latin typeface="Aileron"/>
                <a:ea typeface="Aileron"/>
                <a:cs typeface="Aileron"/>
                <a:sym typeface="Aileron"/>
              </a:rPr>
              <a:t>Stateless</a:t>
            </a:r>
          </a:p>
        </p:txBody>
      </p:sp>
      <p:sp>
        <p:nvSpPr>
          <p:cNvPr name="TextBox 12" id="12"/>
          <p:cNvSpPr txBox="true"/>
          <p:nvPr/>
        </p:nvSpPr>
        <p:spPr>
          <a:xfrm rot="0">
            <a:off x="1394699" y="6014235"/>
            <a:ext cx="6827511" cy="2325370"/>
          </a:xfrm>
          <a:prstGeom prst="rect">
            <a:avLst/>
          </a:prstGeom>
        </p:spPr>
        <p:txBody>
          <a:bodyPr anchor="t" rtlCol="false" tIns="0" lIns="0" bIns="0" rIns="0">
            <a:spAutoFit/>
          </a:bodyPr>
          <a:lstStyle/>
          <a:p>
            <a:pPr algn="l" marL="474979" indent="-237490" lvl="1">
              <a:lnSpc>
                <a:spcPts val="3079"/>
              </a:lnSpc>
              <a:buFont typeface="Arial"/>
              <a:buChar char="•"/>
            </a:pPr>
            <a:r>
              <a:rPr lang="en-US" sz="2199" spc="-21">
                <a:solidFill>
                  <a:srgbClr val="1F191A"/>
                </a:solidFill>
                <a:latin typeface="Open Sauce Light"/>
                <a:ea typeface="Open Sauce Light"/>
                <a:cs typeface="Open Sauce Light"/>
                <a:sym typeface="Open Sauce Light"/>
              </a:rPr>
              <a:t>Dalam apps yang menggunakan stateless widget, yang berarti widget dalam app ini tidak akan berubah. Tanpa adanya setstate yang berfungsi untuk memberitahu Flutter ketika terjadi perubahan.</a:t>
            </a:r>
          </a:p>
          <a:p>
            <a:pPr algn="l" marL="474979" indent="-237490" lvl="1">
              <a:lnSpc>
                <a:spcPts val="3079"/>
              </a:lnSpc>
              <a:spcBef>
                <a:spcPct val="0"/>
              </a:spcBef>
              <a:buFont typeface="Arial"/>
              <a:buChar char="•"/>
            </a:pPr>
            <a:r>
              <a:rPr lang="en-US" sz="2199" spc="-21">
                <a:solidFill>
                  <a:srgbClr val="1F191A"/>
                </a:solidFill>
                <a:latin typeface="Open Sauce Light"/>
                <a:ea typeface="Open Sauce Light"/>
                <a:cs typeface="Open Sauce Light"/>
                <a:sym typeface="Open Sauce Light"/>
              </a:rPr>
              <a:t>@fitrah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12592020" y="6037248"/>
            <a:ext cx="8499504" cy="84995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a:ln cap="sq">
              <a:no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8"/>
                </a:lnSpc>
                <a:spcBef>
                  <a:spcPct val="0"/>
                </a:spcBef>
              </a:pPr>
            </a:p>
          </p:txBody>
        </p:sp>
      </p:grpSp>
      <p:grpSp>
        <p:nvGrpSpPr>
          <p:cNvPr name="Group 5" id="5"/>
          <p:cNvGrpSpPr/>
          <p:nvPr/>
        </p:nvGrpSpPr>
        <p:grpSpPr>
          <a:xfrm rot="0">
            <a:off x="8938765" y="-1521772"/>
            <a:ext cx="5272395" cy="52723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191A"/>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358"/>
                </a:lnSpc>
              </a:pPr>
            </a:p>
          </p:txBody>
        </p:sp>
      </p:grpSp>
      <p:sp>
        <p:nvSpPr>
          <p:cNvPr name="Freeform 8" id="8"/>
          <p:cNvSpPr/>
          <p:nvPr/>
        </p:nvSpPr>
        <p:spPr>
          <a:xfrm flipH="false" flipV="false" rot="0">
            <a:off x="9774647" y="7279466"/>
            <a:ext cx="3309549" cy="1978834"/>
          </a:xfrm>
          <a:custGeom>
            <a:avLst/>
            <a:gdLst/>
            <a:ahLst/>
            <a:cxnLst/>
            <a:rect r="r" b="b" t="t" l="l"/>
            <a:pathLst>
              <a:path h="1978834" w="3309549">
                <a:moveTo>
                  <a:pt x="0" y="0"/>
                </a:moveTo>
                <a:lnTo>
                  <a:pt x="3309549" y="0"/>
                </a:lnTo>
                <a:lnTo>
                  <a:pt x="3309549" y="1978834"/>
                </a:lnTo>
                <a:lnTo>
                  <a:pt x="0" y="1978834"/>
                </a:lnTo>
                <a:lnTo>
                  <a:pt x="0" y="0"/>
                </a:lnTo>
                <a:close/>
              </a:path>
            </a:pathLst>
          </a:custGeom>
          <a:blipFill>
            <a:blip r:embed="rId2"/>
            <a:stretch>
              <a:fillRect l="0" t="0" r="0" b="0"/>
            </a:stretch>
          </a:blipFill>
        </p:spPr>
      </p:sp>
      <p:sp>
        <p:nvSpPr>
          <p:cNvPr name="Freeform 9" id="9"/>
          <p:cNvSpPr/>
          <p:nvPr/>
        </p:nvSpPr>
        <p:spPr>
          <a:xfrm flipH="false" flipV="false" rot="-846066">
            <a:off x="16711024" y="108839"/>
            <a:ext cx="1118000" cy="1815426"/>
          </a:xfrm>
          <a:custGeom>
            <a:avLst/>
            <a:gdLst/>
            <a:ahLst/>
            <a:cxnLst/>
            <a:rect r="r" b="b" t="t" l="l"/>
            <a:pathLst>
              <a:path h="1815426" w="1118000">
                <a:moveTo>
                  <a:pt x="0" y="0"/>
                </a:moveTo>
                <a:lnTo>
                  <a:pt x="1118000" y="0"/>
                </a:lnTo>
                <a:lnTo>
                  <a:pt x="1118000" y="1815427"/>
                </a:lnTo>
                <a:lnTo>
                  <a:pt x="0" y="1815427"/>
                </a:lnTo>
                <a:lnTo>
                  <a:pt x="0" y="0"/>
                </a:lnTo>
                <a:close/>
              </a:path>
            </a:pathLst>
          </a:custGeom>
          <a:blipFill>
            <a:blip r:embed="rId3"/>
            <a:stretch>
              <a:fillRect l="0" t="0" r="0" b="0"/>
            </a:stretch>
          </a:blipFill>
        </p:spPr>
      </p:sp>
      <p:sp>
        <p:nvSpPr>
          <p:cNvPr name="Freeform 10" id="10"/>
          <p:cNvSpPr/>
          <p:nvPr/>
        </p:nvSpPr>
        <p:spPr>
          <a:xfrm flipH="false" flipV="false" rot="0">
            <a:off x="8222209" y="1877649"/>
            <a:ext cx="8021741" cy="5741390"/>
          </a:xfrm>
          <a:custGeom>
            <a:avLst/>
            <a:gdLst/>
            <a:ahLst/>
            <a:cxnLst/>
            <a:rect r="r" b="b" t="t" l="l"/>
            <a:pathLst>
              <a:path h="5741390" w="8021741">
                <a:moveTo>
                  <a:pt x="0" y="0"/>
                </a:moveTo>
                <a:lnTo>
                  <a:pt x="8021741" y="0"/>
                </a:lnTo>
                <a:lnTo>
                  <a:pt x="8021741" y="5741391"/>
                </a:lnTo>
                <a:lnTo>
                  <a:pt x="0" y="5741391"/>
                </a:lnTo>
                <a:lnTo>
                  <a:pt x="0" y="0"/>
                </a:lnTo>
                <a:close/>
              </a:path>
            </a:pathLst>
          </a:custGeom>
          <a:blipFill>
            <a:blip r:embed="rId4"/>
            <a:stretch>
              <a:fillRect l="0" t="0" r="0" b="0"/>
            </a:stretch>
          </a:blipFill>
        </p:spPr>
      </p:sp>
      <p:sp>
        <p:nvSpPr>
          <p:cNvPr name="TextBox 11" id="11"/>
          <p:cNvSpPr txBox="true"/>
          <p:nvPr/>
        </p:nvSpPr>
        <p:spPr>
          <a:xfrm rot="0">
            <a:off x="1394699" y="1152525"/>
            <a:ext cx="8379949" cy="1574074"/>
          </a:xfrm>
          <a:prstGeom prst="rect">
            <a:avLst/>
          </a:prstGeom>
        </p:spPr>
        <p:txBody>
          <a:bodyPr anchor="t" rtlCol="false" tIns="0" lIns="0" bIns="0" rIns="0">
            <a:spAutoFit/>
          </a:bodyPr>
          <a:lstStyle/>
          <a:p>
            <a:pPr algn="l">
              <a:lnSpc>
                <a:spcPts val="6096"/>
              </a:lnSpc>
            </a:pPr>
            <a:r>
              <a:rPr lang="en-US" sz="6096" spc="-182">
                <a:solidFill>
                  <a:srgbClr val="1F191A"/>
                </a:solidFill>
                <a:latin typeface="Aileron"/>
                <a:ea typeface="Aileron"/>
                <a:cs typeface="Aileron"/>
                <a:sym typeface="Aileron"/>
              </a:rPr>
              <a:t>Kode penggunaan</a:t>
            </a:r>
          </a:p>
          <a:p>
            <a:pPr algn="l" marL="0" indent="0" lvl="0">
              <a:lnSpc>
                <a:spcPts val="6096"/>
              </a:lnSpc>
              <a:spcBef>
                <a:spcPct val="0"/>
              </a:spcBef>
            </a:pPr>
            <a:r>
              <a:rPr lang="en-US" sz="6096" spc="-182">
                <a:solidFill>
                  <a:srgbClr val="1F191A"/>
                </a:solidFill>
                <a:latin typeface="Aileron"/>
                <a:ea typeface="Aileron"/>
                <a:cs typeface="Aileron"/>
                <a:sym typeface="Aileron"/>
              </a:rPr>
              <a:t>Stateless</a:t>
            </a:r>
          </a:p>
        </p:txBody>
      </p:sp>
      <p:sp>
        <p:nvSpPr>
          <p:cNvPr name="TextBox 12" id="12"/>
          <p:cNvSpPr txBox="true"/>
          <p:nvPr/>
        </p:nvSpPr>
        <p:spPr>
          <a:xfrm rot="0">
            <a:off x="1394699" y="6014235"/>
            <a:ext cx="6827511" cy="1934845"/>
          </a:xfrm>
          <a:prstGeom prst="rect">
            <a:avLst/>
          </a:prstGeom>
        </p:spPr>
        <p:txBody>
          <a:bodyPr anchor="t" rtlCol="false" tIns="0" lIns="0" bIns="0" rIns="0">
            <a:spAutoFit/>
          </a:bodyPr>
          <a:lstStyle/>
          <a:p>
            <a:pPr algn="l" marL="474979" indent="-237490" lvl="1">
              <a:lnSpc>
                <a:spcPts val="3079"/>
              </a:lnSpc>
              <a:buFont typeface="Arial"/>
              <a:buChar char="•"/>
            </a:pPr>
            <a:r>
              <a:rPr lang="en-US" sz="2199" spc="-21">
                <a:solidFill>
                  <a:srgbClr val="1F191A"/>
                </a:solidFill>
                <a:latin typeface="Open Sauce Light"/>
                <a:ea typeface="Open Sauce Light"/>
                <a:cs typeface="Open Sauce Light"/>
                <a:sym typeface="Open Sauce Light"/>
              </a:rPr>
              <a:t>Koda dalam apps ini menggunakan stateful</a:t>
            </a:r>
          </a:p>
          <a:p>
            <a:pPr algn="l">
              <a:lnSpc>
                <a:spcPts val="3079"/>
              </a:lnSpc>
              <a:spcBef>
                <a:spcPct val="0"/>
              </a:spcBef>
            </a:pPr>
            <a:r>
              <a:rPr lang="en-US" sz="2199" spc="-21">
                <a:solidFill>
                  <a:srgbClr val="1F191A"/>
                </a:solidFill>
                <a:latin typeface="Open Sauce Light"/>
                <a:ea typeface="Open Sauce Light"/>
                <a:cs typeface="Open Sauce Light"/>
                <a:sym typeface="Open Sauce Light"/>
              </a:rPr>
              <a:t>widget yang memiliki state. Dengan adanya ini, ketika tampilan mengalami pembaruan setiap berinteraksi, maka state akan memberitahu flutter bahwa telah terjadi pembaruan. @wawa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DAHCvBc-QNg</dc:identifier>
  <dcterms:modified xsi:type="dcterms:W3CDTF">2011-08-01T06:04:30Z</dcterms:modified>
  <cp:revision>1</cp:revision>
  <dc:title>Beige and Orange Quirky Illustration Sustainable Business Presentation</dc:title>
</cp:coreProperties>
</file>