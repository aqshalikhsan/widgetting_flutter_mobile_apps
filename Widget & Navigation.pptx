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85" r:id="rId3"/>
    <p:sldId id="304" r:id="rId4"/>
    <p:sldId id="303" r:id="rId5"/>
    <p:sldId id="305" r:id="rId6"/>
    <p:sldId id="306" r:id="rId7"/>
    <p:sldId id="308" r:id="rId8"/>
    <p:sldId id="309" r:id="rId9"/>
    <p:sldId id="310" r:id="rId10"/>
    <p:sldId id="311" r:id="rId11"/>
    <p:sldId id="312" r:id="rId12"/>
    <p:sldId id="313" r:id="rId13"/>
    <p:sldId id="314" r:id="rId14"/>
    <p:sldId id="315" r:id="rId15"/>
    <p:sldId id="316" r:id="rId16"/>
    <p:sldId id="318" r:id="rId17"/>
    <p:sldId id="319" r:id="rId18"/>
    <p:sldId id="320" r:id="rId19"/>
    <p:sldId id="321" r:id="rId20"/>
    <p:sldId id="322" r:id="rId21"/>
    <p:sldId id="323" r:id="rId22"/>
    <p:sldId id="324" r:id="rId23"/>
    <p:sldId id="325" r:id="rId24"/>
    <p:sldId id="326" r:id="rId25"/>
    <p:sldId id="327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0BB997-C8FA-4CF7-9C77-EB42DFDC6E2F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853064-D233-40B9-94E8-347DCF702E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80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853064-D233-40B9-94E8-347DCF702ED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0153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853064-D233-40B9-94E8-347DCF702ED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6204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41926-8887-EDF3-5A84-190370722E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666980-28C6-0EA3-4AC2-7F6E2A96A3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96CFBC-DB5B-25F2-1B9B-CACD4180C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F2684-FA47-47B3-BB08-BF54542D597C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8B2F9-137B-7625-5776-E707382E0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361B71-1732-0A52-8B31-607B1C9F4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A9589-72CE-4107-972A-46B2A0BA0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718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9ABFE-959B-F7BB-257A-4807DC23E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84C4B-9299-C726-1F33-31A568592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3E4EE-1650-5D41-BB41-D0CEB0BCA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F2684-FA47-47B3-BB08-BF54542D597C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04717-EEAC-5A60-3D0B-798DC7EC5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8421C-CA2F-BDF6-8293-6702237C3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A9589-72CE-4107-972A-46B2A0BA0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861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04763-FD2A-932F-7027-31276A6A7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ED40A8-DA38-8799-1F7A-7F4A5E684A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EF7BD-ABDF-47C4-091C-17CEC2398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F2684-FA47-47B3-BB08-BF54542D597C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033F3C-ABDB-70D1-AE08-950458FE0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241F0D-7C04-4D9C-B55E-8E49A8ED1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A9589-72CE-4107-972A-46B2A0BA0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438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ADE85-59D3-9B4B-62D8-5DF8D6FF6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D7914-60FE-A9DF-08F2-A62EF43460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2928F5-ADE9-493A-0556-31DA84E444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67FE8A-32AF-C8F7-7854-FEA4DEBC1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F2684-FA47-47B3-BB08-BF54542D597C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CE9C31-D7B3-3D3F-7552-293772622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35A82F-46D9-5B3E-D3F7-A6B6A1452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A9589-72CE-4107-972A-46B2A0BA0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299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DE32C-0FC7-4CAF-E3DF-22EE31A9A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08BDF6-1A16-418B-2691-37129DA1C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AAA36E-ED1E-FE4D-DD0A-095DE214E8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FED7C4-A91B-6A03-94D3-76CB8D40E1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E1F4B7-3210-610A-EA3C-A4CB93E2AF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C69784-E5D2-DBE1-C2B3-D8F5A6E65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F2684-FA47-47B3-BB08-BF54542D597C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18A5C3-BF86-FC9E-02EF-BE5FAADD2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5277E8-925A-F395-6711-F512D46D4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A9589-72CE-4107-972A-46B2A0BA0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389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8DF43-9FE9-5187-F7D5-50F8D1379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5182AF-2FC8-6379-2C5E-443373A16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F2684-FA47-47B3-BB08-BF54542D597C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DB3197-0419-D2B4-B3CA-66611B65E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61711B-701B-5863-A302-E444B4F70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A9589-72CE-4107-972A-46B2A0BA0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372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7FD1E9-5D3E-9ACE-BF2C-2B9A19854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F2684-FA47-47B3-BB08-BF54542D597C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8A6A3B-0CD7-3A72-3495-02D93AD49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900502-0752-F675-6B23-90DBCEC6C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A9589-72CE-4107-972A-46B2A0BA0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017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EBD38-6ECF-AEFD-AD60-B1F617511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2CC69-DF78-A9BF-0A92-C960120E8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67C524-7D09-46EC-7BF4-2EF2C616DD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5348A2-EE33-1869-8B10-CB03BFDA4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F2684-FA47-47B3-BB08-BF54542D597C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EFACE4-1D00-005A-E152-9BEDCE1E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A88259-2366-ECD0-6BB7-022CE8948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A9589-72CE-4107-972A-46B2A0BA0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398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3DB83-C99E-3BBE-FB9F-BEB09EE67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5BA46F-9C5F-F3DE-08A2-BF15FA59DE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E43C6B-9A34-6E56-550C-A085D1690F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E977AC-D755-9767-9509-EAC336DF3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F2684-FA47-47B3-BB08-BF54542D597C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AEC966-F8D8-E989-094D-1BA0EFE02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596D81-03F0-7B4A-D73E-2587E8DA2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A9589-72CE-4107-972A-46B2A0BA0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381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AAD1B-8837-0079-D5D8-E557931BF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117EB7-C14B-DD01-DE75-F8E5C3BC61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A65746-AF6E-348F-8E77-3A41F8F35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F2684-FA47-47B3-BB08-BF54542D597C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E458E-8EAC-1540-F384-C818B8B82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7CEF77-3C51-DB00-E5E4-EE3E22FB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A9589-72CE-4107-972A-46B2A0BA0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2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3F5D68-444F-DD6A-0082-192C589956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474D4B-FC80-B1B3-3E8A-16FD92790F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DDF8A-2B16-ED68-9F2F-CBB74EED3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F2684-FA47-47B3-BB08-BF54542D597C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CCBB0-1F86-E316-CB6C-0DCB2F009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539A30-829B-A842-4449-79186AA3F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A9589-72CE-4107-972A-46B2A0BA0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767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F65A8E-1D3B-0722-D18B-F460F8D8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B014A-AA7C-85A2-7FCE-452CE9440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3FE00B-CD17-16BD-756E-DDFF50F72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6F2684-FA47-47B3-BB08-BF54542D597C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F8A29-21DB-3B25-6AA9-1B6F17424E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432820-1F89-CD56-F30A-21DF44CDFF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3A9589-72CE-4107-972A-46B2A0BA0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20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92DFD-C807-556A-24B0-8C4F10219A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rmAutofit/>
          </a:bodyPr>
          <a:lstStyle/>
          <a:p>
            <a:r>
              <a:rPr lang="en-US" sz="7300" b="1" dirty="0"/>
              <a:t>Widget &amp; Navigation</a:t>
            </a:r>
            <a:br>
              <a:rPr lang="en-US" b="1" dirty="0"/>
            </a:br>
            <a:r>
              <a:rPr lang="en-US" sz="3600" b="1" dirty="0"/>
              <a:t>TKK Mobile Apps</a:t>
            </a:r>
            <a:br>
              <a:rPr lang="en-US" sz="5400" b="1" dirty="0"/>
            </a:br>
            <a:r>
              <a:rPr lang="en-US" sz="2400" b="1" dirty="0" err="1"/>
              <a:t>Aqshal</a:t>
            </a:r>
            <a:r>
              <a:rPr lang="en-US" sz="2400" b="1" dirty="0"/>
              <a:t> Nur </a:t>
            </a:r>
            <a:r>
              <a:rPr lang="en-US" sz="2400" b="1" dirty="0" err="1"/>
              <a:t>Ikhsan</a:t>
            </a:r>
            <a:r>
              <a:rPr lang="en-US" sz="2400" b="1" dirty="0"/>
              <a:t> </a:t>
            </a:r>
            <a:r>
              <a:rPr lang="en-US" sz="2400" b="1" dirty="0" err="1"/>
              <a:t>S.Si</a:t>
            </a:r>
            <a:r>
              <a:rPr lang="en-US" sz="2400" b="1" dirty="0"/>
              <a:t>., </a:t>
            </a:r>
            <a:r>
              <a:rPr lang="en-US" sz="2400" b="1" dirty="0" err="1"/>
              <a:t>M.Si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7AE8EC-9FD5-B693-6F4D-FEDFB3454D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666" y="822570"/>
            <a:ext cx="2438401" cy="120491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26E4AF2-7A28-A017-B392-4775096D381C}"/>
              </a:ext>
            </a:extLst>
          </p:cNvPr>
          <p:cNvSpPr/>
          <p:nvPr/>
        </p:nvSpPr>
        <p:spPr>
          <a:xfrm>
            <a:off x="0" y="6325849"/>
            <a:ext cx="12192000" cy="53215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0447A9-F504-375D-255C-ED2762057E03}"/>
              </a:ext>
            </a:extLst>
          </p:cNvPr>
          <p:cNvSpPr/>
          <p:nvPr/>
        </p:nvSpPr>
        <p:spPr>
          <a:xfrm>
            <a:off x="0" y="-1719"/>
            <a:ext cx="12192000" cy="53215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659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9F9E7D05-8749-7AC4-695E-10F73AE17EF7}"/>
              </a:ext>
            </a:extLst>
          </p:cNvPr>
          <p:cNvSpPr txBox="1">
            <a:spLocks/>
          </p:cNvSpPr>
          <p:nvPr/>
        </p:nvSpPr>
        <p:spPr>
          <a:xfrm>
            <a:off x="484680" y="757003"/>
            <a:ext cx="10035599" cy="8611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50000"/>
              </a:lnSpc>
            </a:pPr>
            <a:r>
              <a:rPr lang="en-US" sz="2000" dirty="0" err="1">
                <a:latin typeface="+mn-lt"/>
              </a:rPr>
              <a:t>Berikut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ini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merupakan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struktur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dari</a:t>
            </a:r>
            <a:r>
              <a:rPr lang="en-US" sz="2000" dirty="0">
                <a:latin typeface="+mn-lt"/>
              </a:rPr>
              <a:t> flutter apps/ per page </a:t>
            </a:r>
            <a:r>
              <a:rPr lang="en-US" sz="2000" dirty="0" err="1">
                <a:latin typeface="+mn-lt"/>
              </a:rPr>
              <a:t>halaman</a:t>
            </a:r>
            <a:r>
              <a:rPr lang="en-US" sz="2000" dirty="0">
                <a:latin typeface="+mn-lt"/>
              </a:rPr>
              <a:t> yang </a:t>
            </a:r>
            <a:r>
              <a:rPr lang="en-US" sz="2000" dirty="0" err="1">
                <a:latin typeface="+mn-lt"/>
              </a:rPr>
              <a:t>akan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kita</a:t>
            </a:r>
            <a:r>
              <a:rPr lang="en-US" sz="2000" dirty="0">
                <a:latin typeface="+mn-lt"/>
              </a:rPr>
              <a:t> layout, </a:t>
            </a:r>
            <a:r>
              <a:rPr lang="en-US" sz="2000" dirty="0" err="1">
                <a:latin typeface="+mn-lt"/>
              </a:rPr>
              <a:t>umumnya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akan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ada</a:t>
            </a:r>
            <a:r>
              <a:rPr lang="en-US" sz="2000" dirty="0">
                <a:latin typeface="+mn-lt"/>
              </a:rPr>
              <a:t> scaffold, </a:t>
            </a:r>
            <a:r>
              <a:rPr lang="en-US" sz="2000" dirty="0" err="1">
                <a:latin typeface="+mn-lt"/>
              </a:rPr>
              <a:t>appbar</a:t>
            </a:r>
            <a:r>
              <a:rPr lang="en-US" sz="2000" dirty="0">
                <a:latin typeface="+mn-lt"/>
              </a:rPr>
              <a:t>, body dan </a:t>
            </a:r>
            <a:r>
              <a:rPr lang="en-US" sz="2000" dirty="0" err="1">
                <a:latin typeface="+mn-lt"/>
              </a:rPr>
              <a:t>didalam</a:t>
            </a:r>
            <a:r>
              <a:rPr lang="en-US" sz="2000" dirty="0">
                <a:latin typeface="+mn-lt"/>
              </a:rPr>
              <a:t> body </a:t>
            </a:r>
            <a:r>
              <a:rPr lang="en-US" sz="2000" dirty="0" err="1">
                <a:latin typeface="+mn-lt"/>
              </a:rPr>
              <a:t>ada</a:t>
            </a:r>
            <a:r>
              <a:rPr lang="en-US" sz="2000" dirty="0">
                <a:latin typeface="+mn-lt"/>
              </a:rPr>
              <a:t> widget-widget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540B1B-6737-46A0-3FEC-99B1B21B90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593" y="1776334"/>
            <a:ext cx="9328686" cy="494675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DA603C7-A84E-7F47-8F34-EE5C5C453C2E}"/>
              </a:ext>
            </a:extLst>
          </p:cNvPr>
          <p:cNvSpPr txBox="1">
            <a:spLocks/>
          </p:cNvSpPr>
          <p:nvPr/>
        </p:nvSpPr>
        <p:spPr>
          <a:xfrm>
            <a:off x="366010" y="-1"/>
            <a:ext cx="6214672" cy="1019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000" b="1" dirty="0">
                <a:latin typeface="+mn-lt"/>
              </a:rPr>
              <a:t>STRUKTUR KERANGKA FLUTTER APPS</a:t>
            </a:r>
          </a:p>
        </p:txBody>
      </p:sp>
    </p:spTree>
    <p:extLst>
      <p:ext uri="{BB962C8B-B14F-4D97-AF65-F5344CB8AC3E}">
        <p14:creationId xmlns:p14="http://schemas.microsoft.com/office/powerpoint/2010/main" val="3333119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9F9E7D05-8749-7AC4-695E-10F73AE17EF7}"/>
              </a:ext>
            </a:extLst>
          </p:cNvPr>
          <p:cNvSpPr txBox="1">
            <a:spLocks/>
          </p:cNvSpPr>
          <p:nvPr/>
        </p:nvSpPr>
        <p:spPr>
          <a:xfrm>
            <a:off x="7080354" y="1255427"/>
            <a:ext cx="4871804" cy="90315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50000"/>
              </a:lnSpc>
            </a:pPr>
            <a:r>
              <a:rPr lang="en-US" sz="1800" b="1" dirty="0" err="1">
                <a:latin typeface="+mn-lt"/>
              </a:rPr>
              <a:t>Fungsi</a:t>
            </a:r>
            <a:r>
              <a:rPr lang="en-US" sz="1800" b="1" dirty="0">
                <a:latin typeface="+mn-lt"/>
              </a:rPr>
              <a:t> void </a:t>
            </a:r>
            <a:r>
              <a:rPr lang="en-US" sz="1800" b="1" dirty="0" err="1">
                <a:latin typeface="+mn-lt"/>
              </a:rPr>
              <a:t>menjalankan</a:t>
            </a:r>
            <a:r>
              <a:rPr lang="en-US" sz="1800" b="1" dirty="0">
                <a:latin typeface="+mn-lt"/>
              </a:rPr>
              <a:t> </a:t>
            </a:r>
            <a:r>
              <a:rPr lang="en-US" sz="1800" b="1" dirty="0" err="1">
                <a:latin typeface="+mn-lt"/>
              </a:rPr>
              <a:t>sebuah</a:t>
            </a:r>
            <a:r>
              <a:rPr lang="en-US" sz="1800" b="1" dirty="0">
                <a:latin typeface="+mn-lt"/>
              </a:rPr>
              <a:t> class </a:t>
            </a:r>
            <a:r>
              <a:rPr lang="en-US" sz="1800" b="1" dirty="0" err="1">
                <a:latin typeface="+mn-lt"/>
              </a:rPr>
              <a:t>MyApp</a:t>
            </a:r>
            <a:endParaRPr lang="en-US" sz="1800" b="1" dirty="0">
              <a:latin typeface="+mn-lt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DA603C7-A84E-7F47-8F34-EE5C5C453C2E}"/>
              </a:ext>
            </a:extLst>
          </p:cNvPr>
          <p:cNvSpPr txBox="1">
            <a:spLocks/>
          </p:cNvSpPr>
          <p:nvPr/>
        </p:nvSpPr>
        <p:spPr>
          <a:xfrm>
            <a:off x="366010" y="-1"/>
            <a:ext cx="6214672" cy="1019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000" b="1" dirty="0">
                <a:latin typeface="+mn-lt"/>
              </a:rPr>
              <a:t>STRUKTUR KERANGKA FLUTTER APPS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00FD3B-6E8F-7D30-6DC0-AA1C064FB0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221" t="14846" r="26353" b="7739"/>
          <a:stretch/>
        </p:blipFill>
        <p:spPr>
          <a:xfrm>
            <a:off x="554636" y="996844"/>
            <a:ext cx="6026046" cy="530652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E7640F2-96D1-899B-E765-4ABEB4080C36}"/>
              </a:ext>
            </a:extLst>
          </p:cNvPr>
          <p:cNvSpPr/>
          <p:nvPr/>
        </p:nvSpPr>
        <p:spPr>
          <a:xfrm>
            <a:off x="809469" y="1139251"/>
            <a:ext cx="2698229" cy="1019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2DE1333-B611-911E-2602-8FF769D5790D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3507698" y="1648916"/>
            <a:ext cx="357265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2093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A7C0A7B-F9A5-9EC8-A36D-E19D571E325D}"/>
              </a:ext>
            </a:extLst>
          </p:cNvPr>
          <p:cNvSpPr txBox="1">
            <a:spLocks/>
          </p:cNvSpPr>
          <p:nvPr/>
        </p:nvSpPr>
        <p:spPr>
          <a:xfrm>
            <a:off x="279107" y="5616473"/>
            <a:ext cx="11459980" cy="8611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000" dirty="0">
                <a:latin typeface="+mn-lt"/>
              </a:rPr>
              <a:t>Bisa </a:t>
            </a:r>
            <a:r>
              <a:rPr lang="en-US" sz="2000" dirty="0" err="1">
                <a:latin typeface="+mn-lt"/>
              </a:rPr>
              <a:t>diganti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isi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AppBar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melalui</a:t>
            </a:r>
            <a:r>
              <a:rPr lang="en-US" sz="2000" dirty="0">
                <a:latin typeface="+mn-lt"/>
              </a:rPr>
              <a:t> tittle yang </a:t>
            </a:r>
            <a:r>
              <a:rPr lang="en-US" sz="2000" dirty="0" err="1">
                <a:latin typeface="+mn-lt"/>
              </a:rPr>
              <a:t>tertera</a:t>
            </a:r>
            <a:r>
              <a:rPr lang="en-US" sz="2000" dirty="0">
                <a:latin typeface="+mn-lt"/>
              </a:rPr>
              <a:t> pada text widget.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39CFDC-2635-5A1E-14EE-F318AC24EF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803" t="15502" r="24631" b="22391"/>
          <a:stretch/>
        </p:blipFill>
        <p:spPr>
          <a:xfrm>
            <a:off x="329783" y="909467"/>
            <a:ext cx="6567433" cy="472190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0A26049-5859-7701-E914-836E4983162F}"/>
              </a:ext>
            </a:extLst>
          </p:cNvPr>
          <p:cNvSpPr/>
          <p:nvPr/>
        </p:nvSpPr>
        <p:spPr>
          <a:xfrm>
            <a:off x="749508" y="2713220"/>
            <a:ext cx="1379095" cy="23984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7CD710-DD85-1C1E-C7C8-7EDFDC6841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648" t="23594" r="48975" b="5307"/>
          <a:stretch/>
        </p:blipFill>
        <p:spPr>
          <a:xfrm>
            <a:off x="8214610" y="909467"/>
            <a:ext cx="2728210" cy="487357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0509521-BE25-A1E5-DC77-CCFAB211A9F5}"/>
              </a:ext>
            </a:extLst>
          </p:cNvPr>
          <p:cNvCxnSpPr>
            <a:stCxn id="5" idx="3"/>
          </p:cNvCxnSpPr>
          <p:nvPr/>
        </p:nvCxnSpPr>
        <p:spPr>
          <a:xfrm flipV="1">
            <a:off x="2128603" y="1094282"/>
            <a:ext cx="6086007" cy="17388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993FF21-31E2-C2B5-FAB7-FC8EFA551334}"/>
              </a:ext>
            </a:extLst>
          </p:cNvPr>
          <p:cNvSpPr/>
          <p:nvPr/>
        </p:nvSpPr>
        <p:spPr>
          <a:xfrm>
            <a:off x="929390" y="4002374"/>
            <a:ext cx="2053653" cy="23984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BC3D90-9D22-EF2A-7606-3847CDF78E3D}"/>
              </a:ext>
            </a:extLst>
          </p:cNvPr>
          <p:cNvSpPr txBox="1"/>
          <p:nvPr/>
        </p:nvSpPr>
        <p:spPr>
          <a:xfrm>
            <a:off x="3222885" y="4122295"/>
            <a:ext cx="27862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Widget text yang </a:t>
            </a:r>
            <a:r>
              <a:rPr lang="en-US" sz="1400" b="1" dirty="0" err="1">
                <a:solidFill>
                  <a:schemeClr val="bg1"/>
                </a:solidFill>
              </a:rPr>
              <a:t>diambil</a:t>
            </a:r>
            <a:r>
              <a:rPr lang="en-US" sz="1400" b="1" dirty="0">
                <a:solidFill>
                  <a:schemeClr val="bg1"/>
                </a:solidFill>
              </a:rPr>
              <a:t> </a:t>
            </a:r>
            <a:r>
              <a:rPr lang="en-US" sz="1400" b="1" dirty="0" err="1">
                <a:solidFill>
                  <a:schemeClr val="bg1"/>
                </a:solidFill>
              </a:rPr>
              <a:t>dari</a:t>
            </a:r>
            <a:r>
              <a:rPr lang="en-US" sz="1400" b="1" dirty="0">
                <a:solidFill>
                  <a:schemeClr val="bg1"/>
                </a:solidFill>
              </a:rPr>
              <a:t> tittle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B893660-58F3-DEC1-16E3-13A71196E65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384" t="35403" r="28675" b="47102"/>
          <a:stretch/>
        </p:blipFill>
        <p:spPr>
          <a:xfrm>
            <a:off x="5651293" y="4782071"/>
            <a:ext cx="4693661" cy="1100777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F1588EFB-FF1D-1E18-9EFA-027DE6C3AB15}"/>
              </a:ext>
            </a:extLst>
          </p:cNvPr>
          <p:cNvSpPr txBox="1">
            <a:spLocks/>
          </p:cNvSpPr>
          <p:nvPr/>
        </p:nvSpPr>
        <p:spPr>
          <a:xfrm>
            <a:off x="366010" y="-1"/>
            <a:ext cx="6214672" cy="1019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000" b="1" dirty="0">
                <a:latin typeface="+mn-lt"/>
              </a:rPr>
              <a:t>STRUKTUR KERANGKA FLUTTER APPS (</a:t>
            </a:r>
            <a:r>
              <a:rPr lang="en-US" sz="2000" b="1" dirty="0" err="1">
                <a:latin typeface="+mn-lt"/>
              </a:rPr>
              <a:t>AppBar</a:t>
            </a:r>
            <a:r>
              <a:rPr lang="en-US" sz="2000" b="1" dirty="0">
                <a:latin typeface="+mn-lt"/>
              </a:rPr>
              <a:t>)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2C677CF-54EB-D813-7165-5DD59950F383}"/>
              </a:ext>
            </a:extLst>
          </p:cNvPr>
          <p:cNvSpPr txBox="1">
            <a:spLocks/>
          </p:cNvSpPr>
          <p:nvPr/>
        </p:nvSpPr>
        <p:spPr>
          <a:xfrm>
            <a:off x="111178" y="6133345"/>
            <a:ext cx="11459980" cy="8611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000" b="1" dirty="0" err="1">
                <a:latin typeface="+mn-lt"/>
              </a:rPr>
              <a:t>Lihat</a:t>
            </a:r>
            <a:r>
              <a:rPr lang="en-US" sz="2000" b="1" dirty="0">
                <a:latin typeface="+mn-lt"/>
              </a:rPr>
              <a:t> VS Code</a:t>
            </a:r>
          </a:p>
        </p:txBody>
      </p:sp>
    </p:spTree>
    <p:extLst>
      <p:ext uri="{BB962C8B-B14F-4D97-AF65-F5344CB8AC3E}">
        <p14:creationId xmlns:p14="http://schemas.microsoft.com/office/powerpoint/2010/main" val="1267321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" grpId="0" animBg="1"/>
      <p:bldP spid="12" grpId="0" animBg="1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97CD710-DD85-1C1E-C7C8-7EDFDC6841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648" t="23594" r="48975" b="5307"/>
          <a:stretch/>
        </p:blipFill>
        <p:spPr>
          <a:xfrm>
            <a:off x="8214610" y="909467"/>
            <a:ext cx="2728210" cy="487357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F1588EFB-FF1D-1E18-9EFA-027DE6C3AB15}"/>
              </a:ext>
            </a:extLst>
          </p:cNvPr>
          <p:cNvSpPr txBox="1">
            <a:spLocks/>
          </p:cNvSpPr>
          <p:nvPr/>
        </p:nvSpPr>
        <p:spPr>
          <a:xfrm>
            <a:off x="366010" y="149902"/>
            <a:ext cx="6214672" cy="1019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000" b="1" dirty="0">
                <a:latin typeface="+mn-lt"/>
              </a:rPr>
              <a:t>STRUKTUR KERANGKA FLUTTER APPS (BODY)</a:t>
            </a:r>
          </a:p>
          <a:p>
            <a:pPr>
              <a:lnSpc>
                <a:spcPct val="150000"/>
              </a:lnSpc>
            </a:pPr>
            <a:r>
              <a:rPr lang="en-US" sz="2000" dirty="0" err="1">
                <a:latin typeface="+mn-lt"/>
              </a:rPr>
              <a:t>Tampilan</a:t>
            </a:r>
            <a:r>
              <a:rPr lang="en-US" sz="2000" dirty="0">
                <a:latin typeface="+mn-lt"/>
              </a:rPr>
              <a:t> auto generate flutter apps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2C677CF-54EB-D813-7165-5DD59950F383}"/>
              </a:ext>
            </a:extLst>
          </p:cNvPr>
          <p:cNvSpPr txBox="1">
            <a:spLocks/>
          </p:cNvSpPr>
          <p:nvPr/>
        </p:nvSpPr>
        <p:spPr>
          <a:xfrm>
            <a:off x="111178" y="6133345"/>
            <a:ext cx="11459980" cy="8611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000" b="1" dirty="0" err="1">
                <a:latin typeface="+mn-lt"/>
              </a:rPr>
              <a:t>Lihat</a:t>
            </a:r>
            <a:r>
              <a:rPr lang="en-US" sz="2000" b="1" dirty="0">
                <a:latin typeface="+mn-lt"/>
              </a:rPr>
              <a:t> VS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34B6B9-604E-952E-7A59-2B34336F9E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943" t="22500" r="23083" b="28295"/>
          <a:stretch/>
        </p:blipFill>
        <p:spPr>
          <a:xfrm>
            <a:off x="494675" y="1742606"/>
            <a:ext cx="6700604" cy="363650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A756A25-C55B-7251-512B-AE373DB93E52}"/>
              </a:ext>
            </a:extLst>
          </p:cNvPr>
          <p:cNvSpPr/>
          <p:nvPr/>
        </p:nvSpPr>
        <p:spPr>
          <a:xfrm>
            <a:off x="966865" y="1963711"/>
            <a:ext cx="1334125" cy="25483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3DAD1ED-9AAA-E0C8-28F9-C4397B667276}"/>
              </a:ext>
            </a:extLst>
          </p:cNvPr>
          <p:cNvCxnSpPr>
            <a:stCxn id="7" idx="3"/>
          </p:cNvCxnSpPr>
          <p:nvPr/>
        </p:nvCxnSpPr>
        <p:spPr>
          <a:xfrm flipV="1">
            <a:off x="2300990" y="2091127"/>
            <a:ext cx="591362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33BDF9C3-4628-C18A-87CA-DE1FE389A1BB}"/>
              </a:ext>
            </a:extLst>
          </p:cNvPr>
          <p:cNvSpPr/>
          <p:nvPr/>
        </p:nvSpPr>
        <p:spPr>
          <a:xfrm>
            <a:off x="966865" y="2465680"/>
            <a:ext cx="1334125" cy="25483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581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F1588EFB-FF1D-1E18-9EFA-027DE6C3AB15}"/>
              </a:ext>
            </a:extLst>
          </p:cNvPr>
          <p:cNvSpPr txBox="1">
            <a:spLocks/>
          </p:cNvSpPr>
          <p:nvPr/>
        </p:nvSpPr>
        <p:spPr>
          <a:xfrm>
            <a:off x="366010" y="149902"/>
            <a:ext cx="6214672" cy="2280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000" b="1" dirty="0">
                <a:latin typeface="+mn-lt"/>
              </a:rPr>
              <a:t>STRUKTUR KERANGKA FLUTTER APPS (FLOAT)</a:t>
            </a:r>
          </a:p>
          <a:p>
            <a:pPr>
              <a:lnSpc>
                <a:spcPct val="150000"/>
              </a:lnSpc>
            </a:pPr>
            <a:r>
              <a:rPr lang="en-US" sz="2000" dirty="0" err="1">
                <a:latin typeface="+mn-lt"/>
              </a:rPr>
              <a:t>Tampilan</a:t>
            </a:r>
            <a:r>
              <a:rPr lang="en-US" sz="2000" dirty="0">
                <a:latin typeface="+mn-lt"/>
              </a:rPr>
              <a:t> auto generate flutter apps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+mn-lt"/>
              </a:rPr>
              <a:t>Icon app </a:t>
            </a:r>
            <a:r>
              <a:rPr lang="en-US" sz="2000" dirty="0" err="1">
                <a:latin typeface="+mn-lt"/>
              </a:rPr>
              <a:t>menampilkan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tanda</a:t>
            </a:r>
            <a:r>
              <a:rPr lang="en-US" sz="2000" dirty="0">
                <a:latin typeface="+mn-lt"/>
              </a:rPr>
              <a:t> plus </a:t>
            </a:r>
            <a:r>
              <a:rPr lang="en-US" sz="2000" dirty="0" err="1">
                <a:latin typeface="+mn-lt"/>
              </a:rPr>
              <a:t>sebagai</a:t>
            </a:r>
            <a:r>
              <a:rPr lang="en-US" sz="2000" dirty="0">
                <a:latin typeface="+mn-lt"/>
              </a:rPr>
              <a:t> auto increment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2C677CF-54EB-D813-7165-5DD59950F383}"/>
              </a:ext>
            </a:extLst>
          </p:cNvPr>
          <p:cNvSpPr txBox="1">
            <a:spLocks/>
          </p:cNvSpPr>
          <p:nvPr/>
        </p:nvSpPr>
        <p:spPr>
          <a:xfrm>
            <a:off x="111178" y="6133345"/>
            <a:ext cx="11459980" cy="8611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000" b="1" dirty="0" err="1">
                <a:latin typeface="+mn-lt"/>
              </a:rPr>
              <a:t>Lihat</a:t>
            </a:r>
            <a:r>
              <a:rPr lang="en-US" sz="2000" b="1" dirty="0">
                <a:latin typeface="+mn-lt"/>
              </a:rPr>
              <a:t> VS Code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DC25CE-7083-3855-AAA4-ED99B945D7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188" t="28405" r="32254" b="5771"/>
          <a:stretch/>
        </p:blipFill>
        <p:spPr>
          <a:xfrm>
            <a:off x="6580682" y="1395269"/>
            <a:ext cx="5066676" cy="451204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A4AE9A6-5863-35F8-C07B-E233B9C126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279" t="38246" r="41475" b="43166"/>
          <a:stretch/>
        </p:blipFill>
        <p:spPr>
          <a:xfrm>
            <a:off x="366010" y="2826761"/>
            <a:ext cx="5554940" cy="1919392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72AAA4C-AE1F-3C66-962E-3D4DB026A4AF}"/>
              </a:ext>
            </a:extLst>
          </p:cNvPr>
          <p:cNvCxnSpPr/>
          <p:nvPr/>
        </p:nvCxnSpPr>
        <p:spPr>
          <a:xfrm>
            <a:off x="5306518" y="3429000"/>
            <a:ext cx="5816184" cy="20816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B0D12CB6-BA57-3FCA-95C4-385FB3D5B9D9}"/>
              </a:ext>
            </a:extLst>
          </p:cNvPr>
          <p:cNvSpPr/>
          <p:nvPr/>
        </p:nvSpPr>
        <p:spPr>
          <a:xfrm>
            <a:off x="2323475" y="4009868"/>
            <a:ext cx="1708879" cy="30729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241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F1588EFB-FF1D-1E18-9EFA-027DE6C3AB15}"/>
              </a:ext>
            </a:extLst>
          </p:cNvPr>
          <p:cNvSpPr txBox="1">
            <a:spLocks/>
          </p:cNvSpPr>
          <p:nvPr/>
        </p:nvSpPr>
        <p:spPr>
          <a:xfrm>
            <a:off x="111178" y="-464695"/>
            <a:ext cx="6214672" cy="2280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000" b="1" dirty="0">
                <a:latin typeface="+mn-lt"/>
              </a:rPr>
              <a:t>MEMULAI MEMBUAT MOBILE APPS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4F86CD-ECB8-CF6C-AF9A-C4A9FC7B50E1}"/>
              </a:ext>
            </a:extLst>
          </p:cNvPr>
          <p:cNvSpPr/>
          <p:nvPr/>
        </p:nvSpPr>
        <p:spPr>
          <a:xfrm>
            <a:off x="2918085" y="1306512"/>
            <a:ext cx="3162925" cy="464695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HALO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B06B13-271E-B456-71A0-1EFD73C35E11}"/>
              </a:ext>
            </a:extLst>
          </p:cNvPr>
          <p:cNvSpPr/>
          <p:nvPr/>
        </p:nvSpPr>
        <p:spPr>
          <a:xfrm>
            <a:off x="2893102" y="1319135"/>
            <a:ext cx="3202898" cy="9743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My Apps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D3DCA9E-9945-67F8-7FC6-34A463E0AB5D}"/>
              </a:ext>
            </a:extLst>
          </p:cNvPr>
          <p:cNvCxnSpPr/>
          <p:nvPr/>
        </p:nvCxnSpPr>
        <p:spPr>
          <a:xfrm>
            <a:off x="5411449" y="1815517"/>
            <a:ext cx="23234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94A681C-D091-00B2-3BF1-134A1F7C15CF}"/>
              </a:ext>
            </a:extLst>
          </p:cNvPr>
          <p:cNvSpPr txBox="1"/>
          <p:nvPr/>
        </p:nvSpPr>
        <p:spPr>
          <a:xfrm>
            <a:off x="7843603" y="1584684"/>
            <a:ext cx="73077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Text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6B828BA-125D-F2B0-CCB6-2364CDF3D699}"/>
              </a:ext>
            </a:extLst>
          </p:cNvPr>
          <p:cNvCxnSpPr/>
          <p:nvPr/>
        </p:nvCxnSpPr>
        <p:spPr>
          <a:xfrm flipV="1">
            <a:off x="5576341" y="899410"/>
            <a:ext cx="1678898" cy="4197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DCE57F4-F770-7E7E-131A-A90158DB8324}"/>
              </a:ext>
            </a:extLst>
          </p:cNvPr>
          <p:cNvSpPr txBox="1"/>
          <p:nvPr/>
        </p:nvSpPr>
        <p:spPr>
          <a:xfrm>
            <a:off x="7555042" y="668577"/>
            <a:ext cx="115424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 err="1"/>
              <a:t>AppBar</a:t>
            </a:r>
            <a:endParaRPr lang="en-US" sz="24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76A0A7D-8F5E-B5BC-3884-A727F26EF567}"/>
              </a:ext>
            </a:extLst>
          </p:cNvPr>
          <p:cNvCxnSpPr/>
          <p:nvPr/>
        </p:nvCxnSpPr>
        <p:spPr>
          <a:xfrm>
            <a:off x="5126636" y="3629987"/>
            <a:ext cx="27169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308F71F-33CC-97DC-306D-9748F4E94238}"/>
              </a:ext>
            </a:extLst>
          </p:cNvPr>
          <p:cNvSpPr txBox="1"/>
          <p:nvPr/>
        </p:nvSpPr>
        <p:spPr>
          <a:xfrm>
            <a:off x="7997252" y="3399154"/>
            <a:ext cx="115424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Widget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209596D-0608-10AA-C14D-6A65FDF36B00}"/>
              </a:ext>
            </a:extLst>
          </p:cNvPr>
          <p:cNvCxnSpPr/>
          <p:nvPr/>
        </p:nvCxnSpPr>
        <p:spPr>
          <a:xfrm>
            <a:off x="4946754" y="5036695"/>
            <a:ext cx="3185409" cy="916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4F92D26-B566-C297-C785-9C0E644FE55F}"/>
              </a:ext>
            </a:extLst>
          </p:cNvPr>
          <p:cNvSpPr txBox="1"/>
          <p:nvPr/>
        </p:nvSpPr>
        <p:spPr>
          <a:xfrm>
            <a:off x="8310796" y="5681810"/>
            <a:ext cx="132788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Scaffold</a:t>
            </a:r>
          </a:p>
        </p:txBody>
      </p:sp>
    </p:spTree>
    <p:extLst>
      <p:ext uri="{BB962C8B-B14F-4D97-AF65-F5344CB8AC3E}">
        <p14:creationId xmlns:p14="http://schemas.microsoft.com/office/powerpoint/2010/main" val="14892293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F1588EFB-FF1D-1E18-9EFA-027DE6C3AB15}"/>
              </a:ext>
            </a:extLst>
          </p:cNvPr>
          <p:cNvSpPr txBox="1">
            <a:spLocks/>
          </p:cNvSpPr>
          <p:nvPr/>
        </p:nvSpPr>
        <p:spPr>
          <a:xfrm>
            <a:off x="111178" y="-734518"/>
            <a:ext cx="6214672" cy="2280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000" b="1" dirty="0">
                <a:latin typeface="+mn-lt"/>
              </a:rPr>
              <a:t>MEMULAI MEMBUAT MOBILE APPS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7ECA17-C341-7307-A159-8A2CEEDC1A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139" t="22719" r="48115" b="7301"/>
          <a:stretch/>
        </p:blipFill>
        <p:spPr>
          <a:xfrm>
            <a:off x="6812405" y="1175820"/>
            <a:ext cx="3207894" cy="554878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5DAE56-B1AB-E33B-AFAB-DE6EA4F8A1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809" t="15136" r="47879" b="20338"/>
          <a:stretch/>
        </p:blipFill>
        <p:spPr>
          <a:xfrm>
            <a:off x="1962462" y="1142393"/>
            <a:ext cx="4048593" cy="5582214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9375534B-A049-1AD4-CE80-4BF2A43F79FC}"/>
              </a:ext>
            </a:extLst>
          </p:cNvPr>
          <p:cNvSpPr txBox="1">
            <a:spLocks/>
          </p:cNvSpPr>
          <p:nvPr/>
        </p:nvSpPr>
        <p:spPr>
          <a:xfrm>
            <a:off x="111178" y="6133345"/>
            <a:ext cx="11459980" cy="8611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000" b="1" dirty="0" err="1">
                <a:latin typeface="+mn-lt"/>
              </a:rPr>
              <a:t>Lihat</a:t>
            </a:r>
            <a:r>
              <a:rPr lang="en-US" sz="2000" b="1" dirty="0">
                <a:latin typeface="+mn-lt"/>
              </a:rPr>
              <a:t> VS Code</a:t>
            </a:r>
          </a:p>
        </p:txBody>
      </p:sp>
    </p:spTree>
    <p:extLst>
      <p:ext uri="{BB962C8B-B14F-4D97-AF65-F5344CB8AC3E}">
        <p14:creationId xmlns:p14="http://schemas.microsoft.com/office/powerpoint/2010/main" val="1293445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F1588EFB-FF1D-1E18-9EFA-027DE6C3AB15}"/>
              </a:ext>
            </a:extLst>
          </p:cNvPr>
          <p:cNvSpPr txBox="1">
            <a:spLocks/>
          </p:cNvSpPr>
          <p:nvPr/>
        </p:nvSpPr>
        <p:spPr>
          <a:xfrm>
            <a:off x="2443397" y="2288894"/>
            <a:ext cx="7659975" cy="2280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b="1" dirty="0">
                <a:latin typeface="+mn-lt"/>
              </a:rPr>
              <a:t>VISIBLE DAN INVISIBLE WIDGET</a:t>
            </a:r>
          </a:p>
        </p:txBody>
      </p:sp>
    </p:spTree>
    <p:extLst>
      <p:ext uri="{BB962C8B-B14F-4D97-AF65-F5344CB8AC3E}">
        <p14:creationId xmlns:p14="http://schemas.microsoft.com/office/powerpoint/2010/main" val="3249495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F1588EFB-FF1D-1E18-9EFA-027DE6C3AB15}"/>
              </a:ext>
            </a:extLst>
          </p:cNvPr>
          <p:cNvSpPr txBox="1">
            <a:spLocks/>
          </p:cNvSpPr>
          <p:nvPr/>
        </p:nvSpPr>
        <p:spPr>
          <a:xfrm>
            <a:off x="306049" y="-644577"/>
            <a:ext cx="9272665" cy="2280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800" b="1" dirty="0">
                <a:latin typeface="+mn-lt"/>
              </a:rPr>
              <a:t>VISIBLE DAN INVISIBLE WIDGET</a:t>
            </a:r>
            <a:endParaRPr lang="en-US" sz="2800" dirty="0">
              <a:latin typeface="+mn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D12CB6-BA57-3FCA-95C4-385FB3D5B9D9}"/>
              </a:ext>
            </a:extLst>
          </p:cNvPr>
          <p:cNvSpPr/>
          <p:nvPr/>
        </p:nvSpPr>
        <p:spPr>
          <a:xfrm>
            <a:off x="2323475" y="4009868"/>
            <a:ext cx="1708879" cy="30729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3905392-0A12-668B-EC0E-0E46340756AF}"/>
              </a:ext>
            </a:extLst>
          </p:cNvPr>
          <p:cNvSpPr/>
          <p:nvPr/>
        </p:nvSpPr>
        <p:spPr>
          <a:xfrm>
            <a:off x="1227943" y="1244184"/>
            <a:ext cx="3927423" cy="4721901"/>
          </a:xfrm>
          <a:prstGeom prst="roundRect">
            <a:avLst>
              <a:gd name="adj" fmla="val 1208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VISIBLE</a:t>
            </a:r>
          </a:p>
          <a:p>
            <a:pPr algn="ctr"/>
            <a:endParaRPr lang="en-US" sz="2800" b="1" dirty="0">
              <a:solidFill>
                <a:schemeClr val="tx1"/>
              </a:solidFill>
            </a:endParaRPr>
          </a:p>
          <a:p>
            <a:pPr algn="ctr"/>
            <a:r>
              <a:rPr lang="en-US" sz="2800" b="1" dirty="0">
                <a:solidFill>
                  <a:schemeClr val="tx1"/>
                </a:solidFill>
              </a:rPr>
              <a:t>TEXT (),</a:t>
            </a:r>
          </a:p>
          <a:p>
            <a:pPr algn="ctr"/>
            <a:r>
              <a:rPr lang="en-US" sz="2800" b="1" dirty="0">
                <a:solidFill>
                  <a:schemeClr val="tx1"/>
                </a:solidFill>
              </a:rPr>
              <a:t>APPBAR (),</a:t>
            </a:r>
          </a:p>
          <a:p>
            <a:pPr algn="ctr"/>
            <a:r>
              <a:rPr lang="en-US" sz="2800" b="1" dirty="0">
                <a:solidFill>
                  <a:schemeClr val="tx1"/>
                </a:solidFill>
              </a:rPr>
              <a:t>ICON (),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0660FAA-3E42-B4E8-A408-44FB3AE7F2A7}"/>
              </a:ext>
            </a:extLst>
          </p:cNvPr>
          <p:cNvSpPr/>
          <p:nvPr/>
        </p:nvSpPr>
        <p:spPr>
          <a:xfrm>
            <a:off x="6096000" y="1244183"/>
            <a:ext cx="3927423" cy="4721901"/>
          </a:xfrm>
          <a:prstGeom prst="roundRect">
            <a:avLst>
              <a:gd name="adj" fmla="val 9415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INVISIBLE</a:t>
            </a:r>
          </a:p>
          <a:p>
            <a:pPr algn="ctr"/>
            <a:endParaRPr lang="en-US" sz="2800" b="1" dirty="0"/>
          </a:p>
          <a:p>
            <a:pPr algn="ctr"/>
            <a:r>
              <a:rPr lang="en-US" sz="2800" b="1" dirty="0"/>
              <a:t>ROW (), STACK (), COLUMN (), CENTER (),CONTAINER (), …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C02718E-AB43-77E9-2FE0-2EA82231E0AD}"/>
              </a:ext>
            </a:extLst>
          </p:cNvPr>
          <p:cNvSpPr txBox="1">
            <a:spLocks/>
          </p:cNvSpPr>
          <p:nvPr/>
        </p:nvSpPr>
        <p:spPr>
          <a:xfrm>
            <a:off x="111178" y="5996856"/>
            <a:ext cx="11459980" cy="8611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000" b="1" dirty="0">
                <a:latin typeface="+mn-lt"/>
              </a:rPr>
              <a:t>INVISIBLE WIDGET </a:t>
            </a:r>
            <a:r>
              <a:rPr lang="en-US" sz="2000" b="1" dirty="0" err="1">
                <a:latin typeface="+mn-lt"/>
              </a:rPr>
              <a:t>digunakan</a:t>
            </a:r>
            <a:r>
              <a:rPr lang="en-US" sz="2000" b="1" dirty="0">
                <a:latin typeface="+mn-lt"/>
              </a:rPr>
              <a:t> </a:t>
            </a:r>
            <a:r>
              <a:rPr lang="en-US" sz="2000" b="1" dirty="0" err="1">
                <a:latin typeface="+mn-lt"/>
              </a:rPr>
              <a:t>untuk</a:t>
            </a:r>
            <a:r>
              <a:rPr lang="en-US" sz="2000" b="1" dirty="0">
                <a:latin typeface="+mn-lt"/>
              </a:rPr>
              <a:t> </a:t>
            </a:r>
            <a:r>
              <a:rPr lang="en-US" sz="2000" b="1" dirty="0" err="1">
                <a:latin typeface="+mn-lt"/>
              </a:rPr>
              <a:t>melakukan</a:t>
            </a:r>
            <a:r>
              <a:rPr lang="en-US" sz="2000" b="1" dirty="0">
                <a:latin typeface="+mn-lt"/>
              </a:rPr>
              <a:t> </a:t>
            </a:r>
            <a:r>
              <a:rPr lang="en-US" sz="2000" b="1" dirty="0" err="1">
                <a:latin typeface="+mn-lt"/>
              </a:rPr>
              <a:t>layoutting</a:t>
            </a:r>
            <a:r>
              <a:rPr lang="en-US" sz="2000" b="1" dirty="0">
                <a:latin typeface="+mn-lt"/>
              </a:rPr>
              <a:t> dan styling.</a:t>
            </a:r>
          </a:p>
        </p:txBody>
      </p:sp>
    </p:spTree>
    <p:extLst>
      <p:ext uri="{BB962C8B-B14F-4D97-AF65-F5344CB8AC3E}">
        <p14:creationId xmlns:p14="http://schemas.microsoft.com/office/powerpoint/2010/main" val="2941160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F1588EFB-FF1D-1E18-9EFA-027DE6C3AB15}"/>
              </a:ext>
            </a:extLst>
          </p:cNvPr>
          <p:cNvSpPr txBox="1">
            <a:spLocks/>
          </p:cNvSpPr>
          <p:nvPr/>
        </p:nvSpPr>
        <p:spPr>
          <a:xfrm>
            <a:off x="306049" y="-644577"/>
            <a:ext cx="9272665" cy="2280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800" b="1" dirty="0">
                <a:latin typeface="+mn-lt"/>
              </a:rPr>
              <a:t>COLUMN</a:t>
            </a:r>
            <a:endParaRPr lang="en-US" sz="2800" dirty="0">
              <a:latin typeface="+mn-lt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0660FAA-3E42-B4E8-A408-44FB3AE7F2A7}"/>
              </a:ext>
            </a:extLst>
          </p:cNvPr>
          <p:cNvSpPr/>
          <p:nvPr/>
        </p:nvSpPr>
        <p:spPr>
          <a:xfrm>
            <a:off x="649574" y="1068049"/>
            <a:ext cx="3927423" cy="4721901"/>
          </a:xfrm>
          <a:prstGeom prst="roundRect">
            <a:avLst>
              <a:gd name="adj" fmla="val 0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6D161F-149A-B941-951F-8AD4FF066616}"/>
              </a:ext>
            </a:extLst>
          </p:cNvPr>
          <p:cNvSpPr/>
          <p:nvPr/>
        </p:nvSpPr>
        <p:spPr>
          <a:xfrm>
            <a:off x="779489" y="1409075"/>
            <a:ext cx="1618937" cy="7495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F18D18-65C2-9497-CD1D-E0C5ADA8E5E5}"/>
              </a:ext>
            </a:extLst>
          </p:cNvPr>
          <p:cNvSpPr/>
          <p:nvPr/>
        </p:nvSpPr>
        <p:spPr>
          <a:xfrm>
            <a:off x="779489" y="2402174"/>
            <a:ext cx="1618937" cy="7495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83D94D-F972-889D-4558-7E7C0EA42E51}"/>
              </a:ext>
            </a:extLst>
          </p:cNvPr>
          <p:cNvSpPr/>
          <p:nvPr/>
        </p:nvSpPr>
        <p:spPr>
          <a:xfrm>
            <a:off x="779488" y="3395273"/>
            <a:ext cx="1618937" cy="7495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C8FA2B-B52D-3D86-CB74-58D9D6250206}"/>
              </a:ext>
            </a:extLst>
          </p:cNvPr>
          <p:cNvSpPr/>
          <p:nvPr/>
        </p:nvSpPr>
        <p:spPr>
          <a:xfrm>
            <a:off x="779487" y="4489554"/>
            <a:ext cx="1618937" cy="7495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4AA43BF-F889-5266-443B-06D7F71C4FF9}"/>
              </a:ext>
            </a:extLst>
          </p:cNvPr>
          <p:cNvCxnSpPr/>
          <p:nvPr/>
        </p:nvCxnSpPr>
        <p:spPr>
          <a:xfrm>
            <a:off x="3312826" y="1635635"/>
            <a:ext cx="0" cy="34460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3422E14-B859-0E89-5977-3C3A2ACF5D4D}"/>
              </a:ext>
            </a:extLst>
          </p:cNvPr>
          <p:cNvSpPr txBox="1"/>
          <p:nvPr/>
        </p:nvSpPr>
        <p:spPr>
          <a:xfrm>
            <a:off x="3840583" y="2158584"/>
            <a:ext cx="386644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</a:t>
            </a:r>
            <a:br>
              <a:rPr lang="en-US" b="1" dirty="0"/>
            </a:br>
            <a:r>
              <a:rPr lang="en-US" b="1" dirty="0"/>
              <a:t>A</a:t>
            </a:r>
            <a:br>
              <a:rPr lang="en-US" b="1" dirty="0"/>
            </a:br>
            <a:r>
              <a:rPr lang="en-US" b="1" dirty="0"/>
              <a:t>I</a:t>
            </a:r>
            <a:br>
              <a:rPr lang="en-US" b="1" dirty="0"/>
            </a:br>
            <a:r>
              <a:rPr lang="en-US" b="1" dirty="0"/>
              <a:t>N</a:t>
            </a:r>
            <a:br>
              <a:rPr lang="en-US" b="1" dirty="0"/>
            </a:br>
            <a:br>
              <a:rPr lang="en-US" b="1" dirty="0"/>
            </a:br>
            <a:r>
              <a:rPr lang="en-US" b="1" dirty="0"/>
              <a:t>A</a:t>
            </a:r>
            <a:br>
              <a:rPr lang="en-US" b="1" dirty="0"/>
            </a:br>
            <a:r>
              <a:rPr lang="en-US" b="1" dirty="0"/>
              <a:t>X</a:t>
            </a:r>
            <a:br>
              <a:rPr lang="en-US" b="1" dirty="0"/>
            </a:br>
            <a:r>
              <a:rPr lang="en-US" b="1" dirty="0"/>
              <a:t>I</a:t>
            </a:r>
            <a:br>
              <a:rPr lang="en-US" b="1" dirty="0"/>
            </a:br>
            <a:r>
              <a:rPr lang="en-US" b="1" dirty="0"/>
              <a:t>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4A04257-4A6F-D3C3-F470-2E8320FBD42F}"/>
              </a:ext>
            </a:extLst>
          </p:cNvPr>
          <p:cNvCxnSpPr>
            <a:cxnSpLocks/>
          </p:cNvCxnSpPr>
          <p:nvPr/>
        </p:nvCxnSpPr>
        <p:spPr>
          <a:xfrm>
            <a:off x="752609" y="6116777"/>
            <a:ext cx="37144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6DC939D-3EDF-2B08-5203-5932CAA5C37C}"/>
              </a:ext>
            </a:extLst>
          </p:cNvPr>
          <p:cNvSpPr txBox="1"/>
          <p:nvPr/>
        </p:nvSpPr>
        <p:spPr>
          <a:xfrm>
            <a:off x="1722416" y="6255481"/>
            <a:ext cx="1774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 R O S </a:t>
            </a:r>
            <a:r>
              <a:rPr lang="en-US" b="1" dirty="0" err="1"/>
              <a:t>S</a:t>
            </a:r>
            <a:r>
              <a:rPr lang="en-US" b="1" dirty="0"/>
              <a:t>   A X I 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D6DE5C-E5F3-2523-B2CA-D42ADCD085BB}"/>
              </a:ext>
            </a:extLst>
          </p:cNvPr>
          <p:cNvSpPr txBox="1"/>
          <p:nvPr/>
        </p:nvSpPr>
        <p:spPr>
          <a:xfrm>
            <a:off x="5104753" y="2944453"/>
            <a:ext cx="697819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Digunakan</a:t>
            </a:r>
            <a:r>
              <a:rPr lang="en-US" sz="2400" b="1" dirty="0"/>
              <a:t> Menyusun widget-widget </a:t>
            </a:r>
            <a:r>
              <a:rPr lang="en-US" sz="2400" b="1" dirty="0" err="1"/>
              <a:t>ke</a:t>
            </a:r>
            <a:r>
              <a:rPr lang="en-US" sz="2400" b="1" dirty="0"/>
              <a:t> </a:t>
            </a:r>
            <a:r>
              <a:rPr lang="en-US" sz="2400" b="1" dirty="0" err="1"/>
              <a:t>bawah</a:t>
            </a:r>
            <a:r>
              <a:rPr lang="en-US" sz="2400" b="1" dirty="0"/>
              <a:t> </a:t>
            </a:r>
          </a:p>
          <a:p>
            <a:r>
              <a:rPr lang="en-US" sz="2400" b="1" dirty="0"/>
              <a:t>(vertical) main axis alignment. </a:t>
            </a:r>
            <a:r>
              <a:rPr lang="en-US" sz="2400" b="1" dirty="0" err="1"/>
              <a:t>atau</a:t>
            </a:r>
            <a:r>
              <a:rPr lang="en-US" sz="2400" b="1" dirty="0"/>
              <a:t> </a:t>
            </a:r>
            <a:r>
              <a:rPr lang="en-US" sz="2400" b="1" dirty="0" err="1"/>
              <a:t>membuat</a:t>
            </a:r>
            <a:r>
              <a:rPr lang="en-US" sz="2400" b="1" dirty="0"/>
              <a:t> </a:t>
            </a:r>
            <a:r>
              <a:rPr lang="en-US" sz="2400" b="1" dirty="0" err="1"/>
              <a:t>sebuah</a:t>
            </a:r>
            <a:endParaRPr lang="en-US" sz="2400" b="1" dirty="0"/>
          </a:p>
          <a:p>
            <a:r>
              <a:rPr lang="en-US" sz="2400" b="1" dirty="0" err="1"/>
              <a:t>kolom</a:t>
            </a:r>
            <a:r>
              <a:rPr lang="en-US" sz="2400" b="1" dirty="0"/>
              <a:t>.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39390E97-78AE-2795-71B8-EF0C6038B060}"/>
              </a:ext>
            </a:extLst>
          </p:cNvPr>
          <p:cNvSpPr txBox="1">
            <a:spLocks/>
          </p:cNvSpPr>
          <p:nvPr/>
        </p:nvSpPr>
        <p:spPr>
          <a:xfrm>
            <a:off x="10274509" y="6116777"/>
            <a:ext cx="11459980" cy="8611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000" b="1" dirty="0" err="1">
                <a:latin typeface="+mn-lt"/>
              </a:rPr>
              <a:t>Lihat</a:t>
            </a:r>
            <a:r>
              <a:rPr lang="en-US" sz="2000" b="1" dirty="0">
                <a:latin typeface="+mn-lt"/>
              </a:rPr>
              <a:t> VS Code</a:t>
            </a:r>
          </a:p>
        </p:txBody>
      </p:sp>
    </p:spTree>
    <p:extLst>
      <p:ext uri="{BB962C8B-B14F-4D97-AF65-F5344CB8AC3E}">
        <p14:creationId xmlns:p14="http://schemas.microsoft.com/office/powerpoint/2010/main" val="3000669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F1588EFB-FF1D-1E18-9EFA-027DE6C3AB15}"/>
              </a:ext>
            </a:extLst>
          </p:cNvPr>
          <p:cNvSpPr txBox="1">
            <a:spLocks/>
          </p:cNvSpPr>
          <p:nvPr/>
        </p:nvSpPr>
        <p:spPr>
          <a:xfrm>
            <a:off x="216108" y="-561461"/>
            <a:ext cx="9272665" cy="2280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800" b="1" dirty="0">
                <a:latin typeface="+mn-lt"/>
              </a:rPr>
              <a:t>ROW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ACB56CB-9486-63F2-BDB2-B6AB9DC9FC5D}"/>
              </a:ext>
            </a:extLst>
          </p:cNvPr>
          <p:cNvSpPr/>
          <p:nvPr/>
        </p:nvSpPr>
        <p:spPr>
          <a:xfrm>
            <a:off x="649574" y="1068049"/>
            <a:ext cx="3927423" cy="4721901"/>
          </a:xfrm>
          <a:prstGeom prst="roundRect">
            <a:avLst>
              <a:gd name="adj" fmla="val 0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D770F9A-325D-E35D-DF84-8BDDC1497561}"/>
              </a:ext>
            </a:extLst>
          </p:cNvPr>
          <p:cNvSpPr/>
          <p:nvPr/>
        </p:nvSpPr>
        <p:spPr>
          <a:xfrm>
            <a:off x="779490" y="1409076"/>
            <a:ext cx="974360" cy="5532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7998B5B-4090-93DC-10A4-170488769F08}"/>
              </a:ext>
            </a:extLst>
          </p:cNvPr>
          <p:cNvSpPr/>
          <p:nvPr/>
        </p:nvSpPr>
        <p:spPr>
          <a:xfrm>
            <a:off x="2125482" y="1409076"/>
            <a:ext cx="974360" cy="5532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5EB871E-F161-1F4C-D59A-D0AA89BC9DCA}"/>
              </a:ext>
            </a:extLst>
          </p:cNvPr>
          <p:cNvSpPr/>
          <p:nvPr/>
        </p:nvSpPr>
        <p:spPr>
          <a:xfrm>
            <a:off x="3471475" y="1442118"/>
            <a:ext cx="974360" cy="5532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AC1EECE-DCF5-6053-3853-5DBC3B3732AB}"/>
              </a:ext>
            </a:extLst>
          </p:cNvPr>
          <p:cNvSpPr txBox="1"/>
          <p:nvPr/>
        </p:nvSpPr>
        <p:spPr>
          <a:xfrm>
            <a:off x="6310859" y="2828834"/>
            <a:ext cx="58659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Digunakan</a:t>
            </a:r>
            <a:r>
              <a:rPr lang="en-US" sz="2400" b="1" dirty="0"/>
              <a:t> Menyusun widget-widget </a:t>
            </a:r>
            <a:r>
              <a:rPr lang="en-US" sz="2400" b="1" dirty="0" err="1"/>
              <a:t>ke</a:t>
            </a:r>
            <a:r>
              <a:rPr lang="en-US" sz="2400" b="1" dirty="0"/>
              <a:t> </a:t>
            </a:r>
            <a:r>
              <a:rPr lang="en-US" sz="2400" b="1" dirty="0" err="1"/>
              <a:t>samping</a:t>
            </a:r>
            <a:r>
              <a:rPr lang="en-US" sz="2400" b="1" dirty="0"/>
              <a:t> (horizontal) main axis alignment. </a:t>
            </a:r>
            <a:r>
              <a:rPr lang="en-US" sz="2400" b="1" dirty="0" err="1"/>
              <a:t>atau</a:t>
            </a:r>
            <a:r>
              <a:rPr lang="en-US" sz="2400" b="1" dirty="0"/>
              <a:t> </a:t>
            </a:r>
            <a:r>
              <a:rPr lang="en-US" sz="2400" b="1" dirty="0" err="1"/>
              <a:t>membuat</a:t>
            </a:r>
            <a:r>
              <a:rPr lang="en-US" sz="2400" b="1" dirty="0"/>
              <a:t> </a:t>
            </a:r>
            <a:r>
              <a:rPr lang="en-US" sz="2400" b="1" dirty="0" err="1"/>
              <a:t>sebuah</a:t>
            </a:r>
            <a:r>
              <a:rPr lang="en-US" sz="2400" b="1" dirty="0"/>
              <a:t> baris.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9B82F04-F62C-87A7-CF1E-393FB23F1474}"/>
              </a:ext>
            </a:extLst>
          </p:cNvPr>
          <p:cNvCxnSpPr/>
          <p:nvPr/>
        </p:nvCxnSpPr>
        <p:spPr>
          <a:xfrm>
            <a:off x="4781861" y="1613389"/>
            <a:ext cx="0" cy="34460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88E1E71-0A0B-5803-10FA-7227741E963E}"/>
              </a:ext>
            </a:extLst>
          </p:cNvPr>
          <p:cNvSpPr txBox="1"/>
          <p:nvPr/>
        </p:nvSpPr>
        <p:spPr>
          <a:xfrm>
            <a:off x="5086091" y="1997837"/>
            <a:ext cx="34015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</a:t>
            </a:r>
          </a:p>
          <a:p>
            <a:r>
              <a:rPr lang="en-US" b="1" dirty="0"/>
              <a:t>R</a:t>
            </a:r>
            <a:br>
              <a:rPr lang="en-US" b="1" dirty="0"/>
            </a:br>
            <a:r>
              <a:rPr lang="en-US" b="1" dirty="0"/>
              <a:t>O</a:t>
            </a:r>
            <a:br>
              <a:rPr lang="en-US" b="1" dirty="0"/>
            </a:br>
            <a:r>
              <a:rPr lang="en-US" b="1" dirty="0"/>
              <a:t>S</a:t>
            </a:r>
            <a:br>
              <a:rPr lang="en-US" b="1" dirty="0"/>
            </a:br>
            <a:r>
              <a:rPr lang="en-US" b="1" dirty="0" err="1"/>
              <a:t>S</a:t>
            </a:r>
            <a:br>
              <a:rPr lang="en-US" b="1" dirty="0"/>
            </a:br>
            <a:br>
              <a:rPr lang="en-US" b="1" dirty="0"/>
            </a:br>
            <a:r>
              <a:rPr lang="en-US" b="1" dirty="0"/>
              <a:t>A</a:t>
            </a:r>
            <a:br>
              <a:rPr lang="en-US" b="1" dirty="0"/>
            </a:br>
            <a:r>
              <a:rPr lang="en-US" b="1" dirty="0"/>
              <a:t>X</a:t>
            </a:r>
            <a:br>
              <a:rPr lang="en-US" b="1" dirty="0"/>
            </a:br>
            <a:r>
              <a:rPr lang="en-US" b="1" dirty="0"/>
              <a:t>I</a:t>
            </a:r>
            <a:br>
              <a:rPr lang="en-US" b="1" dirty="0"/>
            </a:br>
            <a:r>
              <a:rPr lang="en-US" b="1" dirty="0"/>
              <a:t>S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964AB35-4559-2A3D-5843-841DDE3DFC78}"/>
              </a:ext>
            </a:extLst>
          </p:cNvPr>
          <p:cNvCxnSpPr>
            <a:cxnSpLocks/>
          </p:cNvCxnSpPr>
          <p:nvPr/>
        </p:nvCxnSpPr>
        <p:spPr>
          <a:xfrm>
            <a:off x="752609" y="6116777"/>
            <a:ext cx="37144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8A3F9F7-CA98-F1EC-EC08-9BD9F12218EB}"/>
              </a:ext>
            </a:extLst>
          </p:cNvPr>
          <p:cNvSpPr txBox="1"/>
          <p:nvPr/>
        </p:nvSpPr>
        <p:spPr>
          <a:xfrm>
            <a:off x="1722416" y="6255481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 A I N   A X I S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8B23E100-B25A-6127-9E9A-A7A9590DAED5}"/>
              </a:ext>
            </a:extLst>
          </p:cNvPr>
          <p:cNvSpPr txBox="1">
            <a:spLocks/>
          </p:cNvSpPr>
          <p:nvPr/>
        </p:nvSpPr>
        <p:spPr>
          <a:xfrm>
            <a:off x="10274509" y="6116777"/>
            <a:ext cx="11459980" cy="8611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000" b="1" dirty="0" err="1">
                <a:latin typeface="+mn-lt"/>
              </a:rPr>
              <a:t>Lihat</a:t>
            </a:r>
            <a:r>
              <a:rPr lang="en-US" sz="2000" b="1" dirty="0">
                <a:latin typeface="+mn-lt"/>
              </a:rPr>
              <a:t> VS Code</a:t>
            </a:r>
          </a:p>
        </p:txBody>
      </p:sp>
    </p:spTree>
    <p:extLst>
      <p:ext uri="{BB962C8B-B14F-4D97-AF65-F5344CB8AC3E}">
        <p14:creationId xmlns:p14="http://schemas.microsoft.com/office/powerpoint/2010/main" val="1935887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F1588EFB-FF1D-1E18-9EFA-027DE6C3AB15}"/>
              </a:ext>
            </a:extLst>
          </p:cNvPr>
          <p:cNvSpPr txBox="1">
            <a:spLocks/>
          </p:cNvSpPr>
          <p:nvPr/>
        </p:nvSpPr>
        <p:spPr>
          <a:xfrm>
            <a:off x="446171" y="0"/>
            <a:ext cx="9272665" cy="2280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600" b="1" dirty="0">
                <a:latin typeface="+mn-lt"/>
              </a:rPr>
              <a:t>STACK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AC1EECE-DCF5-6053-3853-5DBC3B3732AB}"/>
              </a:ext>
            </a:extLst>
          </p:cNvPr>
          <p:cNvSpPr txBox="1"/>
          <p:nvPr/>
        </p:nvSpPr>
        <p:spPr>
          <a:xfrm>
            <a:off x="330805" y="2964922"/>
            <a:ext cx="44062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Digunakan</a:t>
            </a:r>
            <a:r>
              <a:rPr lang="en-US" sz="2400" b="1" dirty="0"/>
              <a:t> Menyusun widget </a:t>
            </a:r>
          </a:p>
          <a:p>
            <a:r>
              <a:rPr lang="en-US" sz="2400" b="1" dirty="0"/>
              <a:t>widget </a:t>
            </a:r>
            <a:r>
              <a:rPr lang="en-US" sz="2400" b="1" dirty="0" err="1"/>
              <a:t>kedepan</a:t>
            </a:r>
            <a:r>
              <a:rPr lang="en-US" sz="2400" b="1" dirty="0"/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4B1CA5-BBD3-CC0A-642E-8B0F6B47970E}"/>
              </a:ext>
            </a:extLst>
          </p:cNvPr>
          <p:cNvSpPr/>
          <p:nvPr/>
        </p:nvSpPr>
        <p:spPr>
          <a:xfrm>
            <a:off x="4676328" y="1718751"/>
            <a:ext cx="4272197" cy="22802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3EF069-7D40-BDFD-2BA7-9CED5F2BC52D}"/>
              </a:ext>
            </a:extLst>
          </p:cNvPr>
          <p:cNvSpPr/>
          <p:nvPr/>
        </p:nvSpPr>
        <p:spPr>
          <a:xfrm>
            <a:off x="5385863" y="2590678"/>
            <a:ext cx="4272197" cy="22802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0AA610-D667-2EB2-0F7D-EB155CA3BEA9}"/>
              </a:ext>
            </a:extLst>
          </p:cNvPr>
          <p:cNvSpPr/>
          <p:nvPr/>
        </p:nvSpPr>
        <p:spPr>
          <a:xfrm>
            <a:off x="6467653" y="3241878"/>
            <a:ext cx="4272197" cy="22802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4A1C32-94E2-60D8-D7B6-E888FF9A0F5F}"/>
              </a:ext>
            </a:extLst>
          </p:cNvPr>
          <p:cNvSpPr/>
          <p:nvPr/>
        </p:nvSpPr>
        <p:spPr>
          <a:xfrm>
            <a:off x="7167194" y="3893078"/>
            <a:ext cx="4272197" cy="22802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0C3A430-BFC9-931F-ACC0-EC350B61B62B}"/>
              </a:ext>
            </a:extLst>
          </p:cNvPr>
          <p:cNvCxnSpPr/>
          <p:nvPr/>
        </p:nvCxnSpPr>
        <p:spPr>
          <a:xfrm>
            <a:off x="4047344" y="3893078"/>
            <a:ext cx="2765082" cy="25227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86DAD274-2E84-4CB1-E775-CD4D92660A2B}"/>
              </a:ext>
            </a:extLst>
          </p:cNvPr>
          <p:cNvSpPr txBox="1">
            <a:spLocks/>
          </p:cNvSpPr>
          <p:nvPr/>
        </p:nvSpPr>
        <p:spPr>
          <a:xfrm>
            <a:off x="10274509" y="6116777"/>
            <a:ext cx="11459980" cy="8611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000" b="1" dirty="0" err="1">
                <a:latin typeface="+mn-lt"/>
              </a:rPr>
              <a:t>Lihat</a:t>
            </a:r>
            <a:r>
              <a:rPr lang="en-US" sz="2000" b="1" dirty="0">
                <a:latin typeface="+mn-lt"/>
              </a:rPr>
              <a:t> VS Code</a:t>
            </a:r>
          </a:p>
        </p:txBody>
      </p:sp>
    </p:spTree>
    <p:extLst>
      <p:ext uri="{BB962C8B-B14F-4D97-AF65-F5344CB8AC3E}">
        <p14:creationId xmlns:p14="http://schemas.microsoft.com/office/powerpoint/2010/main" val="1132532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F1588EFB-FF1D-1E18-9EFA-027DE6C3AB15}"/>
              </a:ext>
            </a:extLst>
          </p:cNvPr>
          <p:cNvSpPr txBox="1">
            <a:spLocks/>
          </p:cNvSpPr>
          <p:nvPr/>
        </p:nvSpPr>
        <p:spPr>
          <a:xfrm>
            <a:off x="4532025" y="2288894"/>
            <a:ext cx="7659975" cy="2280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b="1" dirty="0">
                <a:latin typeface="+mn-lt"/>
              </a:rPr>
              <a:t>NAVIGATION</a:t>
            </a:r>
          </a:p>
        </p:txBody>
      </p:sp>
    </p:spTree>
    <p:extLst>
      <p:ext uri="{BB962C8B-B14F-4D97-AF65-F5344CB8AC3E}">
        <p14:creationId xmlns:p14="http://schemas.microsoft.com/office/powerpoint/2010/main" val="30651323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F1588EFB-FF1D-1E18-9EFA-027DE6C3AB15}"/>
              </a:ext>
            </a:extLst>
          </p:cNvPr>
          <p:cNvSpPr txBox="1">
            <a:spLocks/>
          </p:cNvSpPr>
          <p:nvPr/>
        </p:nvSpPr>
        <p:spPr>
          <a:xfrm>
            <a:off x="306049" y="-644577"/>
            <a:ext cx="9272665" cy="2280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800" b="1" dirty="0">
                <a:latin typeface="+mn-lt"/>
              </a:rPr>
              <a:t>NAVIGATION</a:t>
            </a:r>
            <a:endParaRPr lang="en-US" sz="2800" dirty="0">
              <a:latin typeface="+mn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D12CB6-BA57-3FCA-95C4-385FB3D5B9D9}"/>
              </a:ext>
            </a:extLst>
          </p:cNvPr>
          <p:cNvSpPr/>
          <p:nvPr/>
        </p:nvSpPr>
        <p:spPr>
          <a:xfrm>
            <a:off x="2323475" y="4009868"/>
            <a:ext cx="1708879" cy="30729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3905392-0A12-668B-EC0E-0E46340756AF}"/>
              </a:ext>
            </a:extLst>
          </p:cNvPr>
          <p:cNvSpPr/>
          <p:nvPr/>
        </p:nvSpPr>
        <p:spPr>
          <a:xfrm>
            <a:off x="1227943" y="1244184"/>
            <a:ext cx="3927423" cy="4721901"/>
          </a:xfrm>
          <a:prstGeom prst="roundRect">
            <a:avLst>
              <a:gd name="adj" fmla="val 1208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PAGE 1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0660FAA-3E42-B4E8-A408-44FB3AE7F2A7}"/>
              </a:ext>
            </a:extLst>
          </p:cNvPr>
          <p:cNvSpPr/>
          <p:nvPr/>
        </p:nvSpPr>
        <p:spPr>
          <a:xfrm>
            <a:off x="6096000" y="1244183"/>
            <a:ext cx="3927423" cy="4721901"/>
          </a:xfrm>
          <a:prstGeom prst="roundRect">
            <a:avLst>
              <a:gd name="adj" fmla="val 9415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PAGE 2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C02718E-AB43-77E9-2FE0-2EA82231E0AD}"/>
              </a:ext>
            </a:extLst>
          </p:cNvPr>
          <p:cNvSpPr txBox="1">
            <a:spLocks/>
          </p:cNvSpPr>
          <p:nvPr/>
        </p:nvSpPr>
        <p:spPr>
          <a:xfrm>
            <a:off x="111178" y="5996856"/>
            <a:ext cx="11459980" cy="8611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000" b="1" dirty="0" err="1">
                <a:latin typeface="+mn-lt"/>
              </a:rPr>
              <a:t>Tempat</a:t>
            </a:r>
            <a:r>
              <a:rPr lang="en-US" sz="2000" b="1" dirty="0">
                <a:latin typeface="+mn-lt"/>
              </a:rPr>
              <a:t> </a:t>
            </a:r>
            <a:r>
              <a:rPr lang="en-US" sz="2000" b="1" dirty="0" err="1">
                <a:latin typeface="+mn-lt"/>
              </a:rPr>
              <a:t>untuk</a:t>
            </a:r>
            <a:r>
              <a:rPr lang="en-US" sz="2000" b="1" dirty="0">
                <a:latin typeface="+mn-lt"/>
              </a:rPr>
              <a:t> </a:t>
            </a:r>
            <a:r>
              <a:rPr lang="en-US" sz="2000" b="1" dirty="0" err="1">
                <a:latin typeface="+mn-lt"/>
              </a:rPr>
              <a:t>mengontrol</a:t>
            </a:r>
            <a:r>
              <a:rPr lang="en-US" sz="2000" b="1" dirty="0">
                <a:latin typeface="+mn-lt"/>
              </a:rPr>
              <a:t> dan routing activity pada mobile apps, navigation </a:t>
            </a:r>
            <a:r>
              <a:rPr lang="en-US" sz="2000" b="1" dirty="0" err="1">
                <a:latin typeface="+mn-lt"/>
              </a:rPr>
              <a:t>digunakan</a:t>
            </a:r>
            <a:r>
              <a:rPr lang="en-US" sz="2000" b="1" dirty="0">
                <a:latin typeface="+mn-lt"/>
              </a:rPr>
              <a:t> </a:t>
            </a:r>
            <a:r>
              <a:rPr lang="en-US" sz="2000" b="1" dirty="0" err="1">
                <a:latin typeface="+mn-lt"/>
              </a:rPr>
              <a:t>untuk</a:t>
            </a:r>
            <a:r>
              <a:rPr lang="en-US" sz="2000" b="1" dirty="0">
                <a:latin typeface="+mn-lt"/>
              </a:rPr>
              <a:t> </a:t>
            </a:r>
            <a:r>
              <a:rPr lang="en-US" sz="2000" b="1" dirty="0" err="1">
                <a:latin typeface="+mn-lt"/>
              </a:rPr>
              <a:t>memindahkan</a:t>
            </a:r>
            <a:r>
              <a:rPr lang="en-US" sz="2000" b="1" dirty="0">
                <a:latin typeface="+mn-lt"/>
              </a:rPr>
              <a:t> </a:t>
            </a:r>
            <a:r>
              <a:rPr lang="en-US" sz="2000" b="1" dirty="0" err="1">
                <a:latin typeface="+mn-lt"/>
              </a:rPr>
              <a:t>dari</a:t>
            </a:r>
            <a:r>
              <a:rPr lang="en-US" sz="2000" b="1" dirty="0">
                <a:latin typeface="+mn-lt"/>
              </a:rPr>
              <a:t> activity 1 </a:t>
            </a:r>
            <a:r>
              <a:rPr lang="en-US" sz="2000" b="1" dirty="0" err="1">
                <a:latin typeface="+mn-lt"/>
              </a:rPr>
              <a:t>ke</a:t>
            </a:r>
            <a:r>
              <a:rPr lang="en-US" sz="2000" b="1" dirty="0">
                <a:latin typeface="+mn-lt"/>
              </a:rPr>
              <a:t> activity </a:t>
            </a:r>
            <a:r>
              <a:rPr lang="en-US" sz="2000" b="1" dirty="0" err="1">
                <a:latin typeface="+mn-lt"/>
              </a:rPr>
              <a:t>lainnya</a:t>
            </a:r>
            <a:r>
              <a:rPr lang="en-US" sz="2000" b="1" dirty="0">
                <a:latin typeface="+mn-lt"/>
              </a:rPr>
              <a:t>. 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6A56493-55AE-A1BE-AEDB-269E8C42718D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5155366" y="3605134"/>
            <a:ext cx="94063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CB68150-4B68-B920-5063-9BAFEC0CD747}"/>
              </a:ext>
            </a:extLst>
          </p:cNvPr>
          <p:cNvCxnSpPr/>
          <p:nvPr/>
        </p:nvCxnSpPr>
        <p:spPr>
          <a:xfrm flipH="1">
            <a:off x="5155366" y="3852472"/>
            <a:ext cx="9406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32688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F1588EFB-FF1D-1E18-9EFA-027DE6C3AB15}"/>
              </a:ext>
            </a:extLst>
          </p:cNvPr>
          <p:cNvSpPr txBox="1">
            <a:spLocks/>
          </p:cNvSpPr>
          <p:nvPr/>
        </p:nvSpPr>
        <p:spPr>
          <a:xfrm>
            <a:off x="111178" y="-824459"/>
            <a:ext cx="9272665" cy="2280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800" b="1" dirty="0">
                <a:latin typeface="+mn-lt"/>
              </a:rPr>
              <a:t>CONTOH</a:t>
            </a:r>
            <a:endParaRPr lang="en-US" sz="2800" dirty="0">
              <a:latin typeface="+mn-lt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C02718E-AB43-77E9-2FE0-2EA82231E0AD}"/>
              </a:ext>
            </a:extLst>
          </p:cNvPr>
          <p:cNvSpPr txBox="1">
            <a:spLocks/>
          </p:cNvSpPr>
          <p:nvPr/>
        </p:nvSpPr>
        <p:spPr>
          <a:xfrm>
            <a:off x="111178" y="5996856"/>
            <a:ext cx="11459980" cy="8611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000" b="1" dirty="0" err="1">
                <a:latin typeface="+mn-lt"/>
              </a:rPr>
              <a:t>Berpindah</a:t>
            </a:r>
            <a:r>
              <a:rPr lang="en-US" sz="2000" b="1" dirty="0">
                <a:latin typeface="+mn-lt"/>
              </a:rPr>
              <a:t> </a:t>
            </a:r>
            <a:r>
              <a:rPr lang="en-US" sz="2000" b="1" dirty="0" err="1">
                <a:latin typeface="+mn-lt"/>
              </a:rPr>
              <a:t>dari</a:t>
            </a:r>
            <a:r>
              <a:rPr lang="en-US" sz="2000" b="1" dirty="0">
                <a:latin typeface="+mn-lt"/>
              </a:rPr>
              <a:t> page login </a:t>
            </a:r>
            <a:r>
              <a:rPr lang="en-US" sz="2000" b="1" dirty="0" err="1">
                <a:latin typeface="+mn-lt"/>
              </a:rPr>
              <a:t>ke</a:t>
            </a:r>
            <a:r>
              <a:rPr lang="en-US" sz="2000" b="1" dirty="0">
                <a:latin typeface="+mn-lt"/>
              </a:rPr>
              <a:t> page </a:t>
            </a:r>
            <a:r>
              <a:rPr lang="en-US" sz="2000" b="1" dirty="0" err="1">
                <a:latin typeface="+mn-lt"/>
              </a:rPr>
              <a:t>registrasi</a:t>
            </a:r>
            <a:r>
              <a:rPr lang="en-US" sz="2000" b="1" dirty="0">
                <a:latin typeface="+mn-lt"/>
              </a:rPr>
              <a:t>. Klo di android studio </a:t>
            </a:r>
            <a:r>
              <a:rPr lang="en-US" sz="2000" b="1" dirty="0" err="1">
                <a:latin typeface="+mn-lt"/>
              </a:rPr>
              <a:t>dinamai</a:t>
            </a:r>
            <a:r>
              <a:rPr lang="en-US" sz="2000" b="1" dirty="0">
                <a:latin typeface="+mn-lt"/>
              </a:rPr>
              <a:t> intent.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EF2774-86B2-53E2-DB96-0583FB5383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72" t="11585" r="19344" b="10820"/>
          <a:stretch/>
        </p:blipFill>
        <p:spPr>
          <a:xfrm>
            <a:off x="2378439" y="675347"/>
            <a:ext cx="7435122" cy="5321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591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F1588EFB-FF1D-1E18-9EFA-027DE6C3AB15}"/>
              </a:ext>
            </a:extLst>
          </p:cNvPr>
          <p:cNvSpPr txBox="1">
            <a:spLocks/>
          </p:cNvSpPr>
          <p:nvPr/>
        </p:nvSpPr>
        <p:spPr>
          <a:xfrm>
            <a:off x="446171" y="0"/>
            <a:ext cx="9272665" cy="2280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600" b="1" dirty="0" err="1">
                <a:latin typeface="+mn-lt"/>
              </a:rPr>
              <a:t>Konsep</a:t>
            </a:r>
            <a:r>
              <a:rPr lang="en-US" sz="3600" b="1" dirty="0">
                <a:latin typeface="+mn-lt"/>
              </a:rPr>
              <a:t> Navigation </a:t>
            </a:r>
            <a:r>
              <a:rPr lang="en-US" sz="3600" b="1" dirty="0" err="1">
                <a:latin typeface="+mn-lt"/>
              </a:rPr>
              <a:t>mirip</a:t>
            </a:r>
            <a:r>
              <a:rPr lang="en-US" sz="3600" b="1" dirty="0">
                <a:latin typeface="+mn-lt"/>
              </a:rPr>
              <a:t> </a:t>
            </a:r>
            <a:r>
              <a:rPr lang="en-US" sz="3600" b="1" dirty="0" err="1">
                <a:latin typeface="+mn-lt"/>
              </a:rPr>
              <a:t>dengan</a:t>
            </a:r>
            <a:r>
              <a:rPr lang="en-US" sz="3600" b="1" dirty="0">
                <a:latin typeface="+mn-lt"/>
              </a:rPr>
              <a:t> Stack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AC1EECE-DCF5-6053-3853-5DBC3B3732AB}"/>
              </a:ext>
            </a:extLst>
          </p:cNvPr>
          <p:cNvSpPr txBox="1"/>
          <p:nvPr/>
        </p:nvSpPr>
        <p:spPr>
          <a:xfrm>
            <a:off x="330805" y="2964922"/>
            <a:ext cx="44062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Menumpuk</a:t>
            </a:r>
            <a:r>
              <a:rPr lang="en-US" sz="2400" b="1" dirty="0"/>
              <a:t> </a:t>
            </a:r>
            <a:r>
              <a:rPr lang="en-US" sz="2400" b="1" dirty="0" err="1"/>
              <a:t>kedepan</a:t>
            </a:r>
            <a:r>
              <a:rPr lang="en-US" sz="2400" b="1" dirty="0"/>
              <a:t> </a:t>
            </a:r>
            <a:r>
              <a:rPr lang="en-US" sz="2400" b="1" dirty="0" err="1"/>
              <a:t>halaman</a:t>
            </a:r>
            <a:endParaRPr lang="en-US" sz="2400" b="1" dirty="0"/>
          </a:p>
          <a:p>
            <a:r>
              <a:rPr lang="en-US" sz="2400" b="1" dirty="0"/>
              <a:t>yang </a:t>
            </a:r>
            <a:r>
              <a:rPr lang="en-US" sz="2400" b="1" dirty="0" err="1"/>
              <a:t>ingin</a:t>
            </a:r>
            <a:r>
              <a:rPr lang="en-US" sz="2400" b="1" dirty="0"/>
              <a:t> </a:t>
            </a:r>
            <a:r>
              <a:rPr lang="en-US" sz="2400" b="1" dirty="0" err="1"/>
              <a:t>ditampilkan</a:t>
            </a:r>
            <a:r>
              <a:rPr lang="en-US" sz="2400" b="1" dirty="0"/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4B1CA5-BBD3-CC0A-642E-8B0F6B47970E}"/>
              </a:ext>
            </a:extLst>
          </p:cNvPr>
          <p:cNvSpPr/>
          <p:nvPr/>
        </p:nvSpPr>
        <p:spPr>
          <a:xfrm>
            <a:off x="4676328" y="1718751"/>
            <a:ext cx="4272197" cy="22802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3EF069-7D40-BDFD-2BA7-9CED5F2BC52D}"/>
              </a:ext>
            </a:extLst>
          </p:cNvPr>
          <p:cNvSpPr/>
          <p:nvPr/>
        </p:nvSpPr>
        <p:spPr>
          <a:xfrm>
            <a:off x="5385863" y="2590678"/>
            <a:ext cx="4272197" cy="22802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0AA610-D667-2EB2-0F7D-EB155CA3BEA9}"/>
              </a:ext>
            </a:extLst>
          </p:cNvPr>
          <p:cNvSpPr/>
          <p:nvPr/>
        </p:nvSpPr>
        <p:spPr>
          <a:xfrm>
            <a:off x="6467653" y="3241878"/>
            <a:ext cx="4272197" cy="22802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4A1C32-94E2-60D8-D7B6-E888FF9A0F5F}"/>
              </a:ext>
            </a:extLst>
          </p:cNvPr>
          <p:cNvSpPr/>
          <p:nvPr/>
        </p:nvSpPr>
        <p:spPr>
          <a:xfrm>
            <a:off x="7167194" y="3893078"/>
            <a:ext cx="4272197" cy="22802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Layer 1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0C3A430-BFC9-931F-ACC0-EC350B61B62B}"/>
              </a:ext>
            </a:extLst>
          </p:cNvPr>
          <p:cNvCxnSpPr/>
          <p:nvPr/>
        </p:nvCxnSpPr>
        <p:spPr>
          <a:xfrm>
            <a:off x="4047344" y="3893078"/>
            <a:ext cx="2765082" cy="25227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053F04B-7674-B8DD-09BD-D658DEE1F705}"/>
              </a:ext>
            </a:extLst>
          </p:cNvPr>
          <p:cNvCxnSpPr/>
          <p:nvPr/>
        </p:nvCxnSpPr>
        <p:spPr>
          <a:xfrm>
            <a:off x="8136610" y="2154264"/>
            <a:ext cx="189079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1B86AE0F-9908-2D07-FEDA-9CF9149F4E4C}"/>
              </a:ext>
            </a:extLst>
          </p:cNvPr>
          <p:cNvSpPr txBox="1">
            <a:spLocks/>
          </p:cNvSpPr>
          <p:nvPr/>
        </p:nvSpPr>
        <p:spPr>
          <a:xfrm>
            <a:off x="10274509" y="1626004"/>
            <a:ext cx="11459980" cy="8611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000" b="1" dirty="0">
                <a:latin typeface="+mn-lt"/>
              </a:rPr>
              <a:t>Layer 4</a:t>
            </a:r>
          </a:p>
        </p:txBody>
      </p:sp>
    </p:spTree>
    <p:extLst>
      <p:ext uri="{BB962C8B-B14F-4D97-AF65-F5344CB8AC3E}">
        <p14:creationId xmlns:p14="http://schemas.microsoft.com/office/powerpoint/2010/main" val="16328915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F1588EFB-FF1D-1E18-9EFA-027DE6C3AB15}"/>
              </a:ext>
            </a:extLst>
          </p:cNvPr>
          <p:cNvSpPr txBox="1">
            <a:spLocks/>
          </p:cNvSpPr>
          <p:nvPr/>
        </p:nvSpPr>
        <p:spPr>
          <a:xfrm>
            <a:off x="457721" y="-316571"/>
            <a:ext cx="9272665" cy="2280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600" b="1" dirty="0">
                <a:latin typeface="+mn-lt"/>
              </a:rPr>
              <a:t>Ada 2 </a:t>
            </a:r>
            <a:r>
              <a:rPr lang="en-US" sz="3600" b="1" dirty="0" err="1">
                <a:latin typeface="+mn-lt"/>
              </a:rPr>
              <a:t>Konsep</a:t>
            </a:r>
            <a:r>
              <a:rPr lang="en-US" sz="3600" b="1" dirty="0">
                <a:latin typeface="+mn-lt"/>
              </a:rPr>
              <a:t> 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6DAD274-2E84-4CB1-E775-CD4D92660A2B}"/>
              </a:ext>
            </a:extLst>
          </p:cNvPr>
          <p:cNvSpPr txBox="1">
            <a:spLocks/>
          </p:cNvSpPr>
          <p:nvPr/>
        </p:nvSpPr>
        <p:spPr>
          <a:xfrm>
            <a:off x="10274509" y="6116777"/>
            <a:ext cx="11459980" cy="8611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000" b="1" dirty="0" err="1">
                <a:latin typeface="+mn-lt"/>
              </a:rPr>
              <a:t>Lihat</a:t>
            </a:r>
            <a:r>
              <a:rPr lang="en-US" sz="2000" b="1" dirty="0">
                <a:latin typeface="+mn-lt"/>
              </a:rPr>
              <a:t> VS Code</a:t>
            </a:r>
          </a:p>
        </p:txBody>
      </p:sp>
      <p:sp>
        <p:nvSpPr>
          <p:cNvPr id="6" name="Flowchart: Data 5">
            <a:extLst>
              <a:ext uri="{FF2B5EF4-FFF2-40B4-BE49-F238E27FC236}">
                <a16:creationId xmlns:a16="http://schemas.microsoft.com/office/drawing/2014/main" id="{ABB8578F-E555-03A9-64AE-BAE2F33C6807}"/>
              </a:ext>
            </a:extLst>
          </p:cNvPr>
          <p:cNvSpPr/>
          <p:nvPr/>
        </p:nvSpPr>
        <p:spPr>
          <a:xfrm rot="17215187">
            <a:off x="5011776" y="3224420"/>
            <a:ext cx="2168451" cy="2873768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owchart: Data 10">
            <a:extLst>
              <a:ext uri="{FF2B5EF4-FFF2-40B4-BE49-F238E27FC236}">
                <a16:creationId xmlns:a16="http://schemas.microsoft.com/office/drawing/2014/main" id="{E0E179C1-DC51-EB03-EC14-30E4BAC4C9E7}"/>
              </a:ext>
            </a:extLst>
          </p:cNvPr>
          <p:cNvSpPr/>
          <p:nvPr/>
        </p:nvSpPr>
        <p:spPr>
          <a:xfrm rot="17215187">
            <a:off x="5011774" y="2617402"/>
            <a:ext cx="2168451" cy="2873768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lowchart: Data 11">
            <a:extLst>
              <a:ext uri="{FF2B5EF4-FFF2-40B4-BE49-F238E27FC236}">
                <a16:creationId xmlns:a16="http://schemas.microsoft.com/office/drawing/2014/main" id="{9CC2B56E-85C6-DE33-A8DD-1088AF37640B}"/>
              </a:ext>
            </a:extLst>
          </p:cNvPr>
          <p:cNvSpPr/>
          <p:nvPr/>
        </p:nvSpPr>
        <p:spPr>
          <a:xfrm rot="17215187">
            <a:off x="5011771" y="1959191"/>
            <a:ext cx="2168451" cy="2873768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lowchart: Data 12">
            <a:extLst>
              <a:ext uri="{FF2B5EF4-FFF2-40B4-BE49-F238E27FC236}">
                <a16:creationId xmlns:a16="http://schemas.microsoft.com/office/drawing/2014/main" id="{E282E8DF-9052-19C6-E0C4-B4A88A0D5D23}"/>
              </a:ext>
            </a:extLst>
          </p:cNvPr>
          <p:cNvSpPr/>
          <p:nvPr/>
        </p:nvSpPr>
        <p:spPr>
          <a:xfrm rot="17215187">
            <a:off x="4565680" y="349047"/>
            <a:ext cx="2168451" cy="2873768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1740ACF-6376-FE2C-8441-3F0B38CD614D}"/>
              </a:ext>
            </a:extLst>
          </p:cNvPr>
          <p:cNvCxnSpPr/>
          <p:nvPr/>
        </p:nvCxnSpPr>
        <p:spPr>
          <a:xfrm>
            <a:off x="3347634" y="1627322"/>
            <a:ext cx="0" cy="41845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D5D3CCFF-9970-8791-ABB1-5C8AA6C1043A}"/>
              </a:ext>
            </a:extLst>
          </p:cNvPr>
          <p:cNvSpPr txBox="1">
            <a:spLocks/>
          </p:cNvSpPr>
          <p:nvPr/>
        </p:nvSpPr>
        <p:spPr>
          <a:xfrm>
            <a:off x="1633010" y="2392950"/>
            <a:ext cx="9272665" cy="2280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600" b="1" dirty="0">
                <a:latin typeface="+mn-lt"/>
              </a:rPr>
              <a:t>PUSH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59A9891-8D24-F1D1-5C54-9B7002EAF754}"/>
              </a:ext>
            </a:extLst>
          </p:cNvPr>
          <p:cNvCxnSpPr/>
          <p:nvPr/>
        </p:nvCxnSpPr>
        <p:spPr>
          <a:xfrm flipV="1">
            <a:off x="8772040" y="1534332"/>
            <a:ext cx="0" cy="43705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itle 1">
            <a:extLst>
              <a:ext uri="{FF2B5EF4-FFF2-40B4-BE49-F238E27FC236}">
                <a16:creationId xmlns:a16="http://schemas.microsoft.com/office/drawing/2014/main" id="{26F85406-5321-FAE0-8CD7-9C9F3632EAE4}"/>
              </a:ext>
            </a:extLst>
          </p:cNvPr>
          <p:cNvSpPr txBox="1">
            <a:spLocks/>
          </p:cNvSpPr>
          <p:nvPr/>
        </p:nvSpPr>
        <p:spPr>
          <a:xfrm>
            <a:off x="9143757" y="2288894"/>
            <a:ext cx="9272665" cy="2280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600" b="1" dirty="0">
                <a:latin typeface="+mn-lt"/>
              </a:rPr>
              <a:t>POP</a:t>
            </a:r>
          </a:p>
        </p:txBody>
      </p:sp>
    </p:spTree>
    <p:extLst>
      <p:ext uri="{BB962C8B-B14F-4D97-AF65-F5344CB8AC3E}">
        <p14:creationId xmlns:p14="http://schemas.microsoft.com/office/powerpoint/2010/main" val="13571956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DCB6A-00C2-1394-EA51-73EF6CAA6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8F679-87AF-9E50-AD24-58D6BAA3A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14A45B-F396-95FE-7BB1-1D9682F56F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139" t="33216" r="28935" b="26983"/>
          <a:stretch/>
        </p:blipFill>
        <p:spPr>
          <a:xfrm>
            <a:off x="838200" y="681037"/>
            <a:ext cx="10084766" cy="5382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4520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61F6F91-8E3D-E306-EE5B-9C115CB064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049" t="16815" r="27090" b="45790"/>
          <a:stretch/>
        </p:blipFill>
        <p:spPr>
          <a:xfrm>
            <a:off x="767368" y="1229193"/>
            <a:ext cx="9940142" cy="4557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0366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1C6EBD-1041-9E01-4188-D691A3384B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771" t="33872" r="26721" b="30483"/>
          <a:stretch/>
        </p:blipFill>
        <p:spPr>
          <a:xfrm>
            <a:off x="1564257" y="1525249"/>
            <a:ext cx="9063485" cy="4081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0056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F1588EFB-FF1D-1E18-9EFA-027DE6C3AB15}"/>
              </a:ext>
            </a:extLst>
          </p:cNvPr>
          <p:cNvSpPr txBox="1">
            <a:spLocks/>
          </p:cNvSpPr>
          <p:nvPr/>
        </p:nvSpPr>
        <p:spPr>
          <a:xfrm>
            <a:off x="4532025" y="2288894"/>
            <a:ext cx="7659975" cy="2280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b="1" dirty="0">
                <a:latin typeface="+mn-lt"/>
              </a:rPr>
              <a:t>ROUTES</a:t>
            </a:r>
          </a:p>
        </p:txBody>
      </p:sp>
    </p:spTree>
    <p:extLst>
      <p:ext uri="{BB962C8B-B14F-4D97-AF65-F5344CB8AC3E}">
        <p14:creationId xmlns:p14="http://schemas.microsoft.com/office/powerpoint/2010/main" val="11774072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70EB6-A2E0-B07B-E0F1-998E7292E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1F197-EEAE-1F6F-0A9B-8D8EC75F1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9296AA-95FB-E868-70FC-E614F27E73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238" t="26609" r="32746" b="30701"/>
          <a:stretch/>
        </p:blipFill>
        <p:spPr>
          <a:xfrm>
            <a:off x="1379094" y="995031"/>
            <a:ext cx="8927339" cy="4867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3013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F1588EFB-FF1D-1E18-9EFA-027DE6C3AB15}"/>
              </a:ext>
            </a:extLst>
          </p:cNvPr>
          <p:cNvSpPr txBox="1">
            <a:spLocks/>
          </p:cNvSpPr>
          <p:nvPr/>
        </p:nvSpPr>
        <p:spPr>
          <a:xfrm>
            <a:off x="287240" y="-116441"/>
            <a:ext cx="9272665" cy="2280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600" b="1" dirty="0">
                <a:latin typeface="+mn-lt"/>
              </a:rPr>
              <a:t>Ada 2 </a:t>
            </a:r>
            <a:r>
              <a:rPr lang="en-US" sz="3600" b="1" dirty="0" err="1">
                <a:latin typeface="+mn-lt"/>
              </a:rPr>
              <a:t>Konsep</a:t>
            </a:r>
            <a:endParaRPr lang="en-US" sz="3600" b="1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2000" b="1" dirty="0" err="1">
                <a:latin typeface="+mn-lt"/>
              </a:rPr>
              <a:t>Menyederhanakan</a:t>
            </a:r>
            <a:r>
              <a:rPr lang="en-US" sz="2000" b="1" dirty="0">
                <a:latin typeface="+mn-lt"/>
              </a:rPr>
              <a:t> </a:t>
            </a:r>
            <a:r>
              <a:rPr lang="en-US" sz="2000" b="1" dirty="0" err="1">
                <a:latin typeface="+mn-lt"/>
              </a:rPr>
              <a:t>konsep</a:t>
            </a:r>
            <a:r>
              <a:rPr lang="en-US" sz="2000" b="1" dirty="0">
                <a:latin typeface="+mn-lt"/>
              </a:rPr>
              <a:t> </a:t>
            </a:r>
            <a:r>
              <a:rPr lang="en-US" sz="2000" b="1" dirty="0" err="1">
                <a:latin typeface="+mn-lt"/>
              </a:rPr>
              <a:t>navigasi</a:t>
            </a:r>
            <a:endParaRPr lang="en-US" sz="2000" b="1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+mn-lt"/>
              </a:rPr>
              <a:t>agar </a:t>
            </a:r>
            <a:r>
              <a:rPr lang="en-US" sz="2000" b="1" dirty="0" err="1">
                <a:latin typeface="+mn-lt"/>
              </a:rPr>
              <a:t>lebih</a:t>
            </a:r>
            <a:r>
              <a:rPr lang="en-US" sz="2000" b="1" dirty="0">
                <a:latin typeface="+mn-lt"/>
              </a:rPr>
              <a:t> </a:t>
            </a:r>
            <a:r>
              <a:rPr lang="en-US" sz="2000" b="1" dirty="0" err="1">
                <a:latin typeface="+mn-lt"/>
              </a:rPr>
              <a:t>efisien</a:t>
            </a:r>
            <a:r>
              <a:rPr lang="en-US" sz="2000" b="1" dirty="0">
                <a:latin typeface="+mn-lt"/>
              </a:rPr>
              <a:t> </a:t>
            </a:r>
          </a:p>
        </p:txBody>
      </p:sp>
      <p:sp>
        <p:nvSpPr>
          <p:cNvPr id="6" name="Flowchart: Data 5">
            <a:extLst>
              <a:ext uri="{FF2B5EF4-FFF2-40B4-BE49-F238E27FC236}">
                <a16:creationId xmlns:a16="http://schemas.microsoft.com/office/drawing/2014/main" id="{ABB8578F-E555-03A9-64AE-BAE2F33C6807}"/>
              </a:ext>
            </a:extLst>
          </p:cNvPr>
          <p:cNvSpPr/>
          <p:nvPr/>
        </p:nvSpPr>
        <p:spPr>
          <a:xfrm rot="17215187">
            <a:off x="5011776" y="3224420"/>
            <a:ext cx="2168451" cy="2873768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owchart: Data 10">
            <a:extLst>
              <a:ext uri="{FF2B5EF4-FFF2-40B4-BE49-F238E27FC236}">
                <a16:creationId xmlns:a16="http://schemas.microsoft.com/office/drawing/2014/main" id="{E0E179C1-DC51-EB03-EC14-30E4BAC4C9E7}"/>
              </a:ext>
            </a:extLst>
          </p:cNvPr>
          <p:cNvSpPr/>
          <p:nvPr/>
        </p:nvSpPr>
        <p:spPr>
          <a:xfrm rot="17215187">
            <a:off x="5011774" y="2617402"/>
            <a:ext cx="2168451" cy="2873768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lowchart: Data 11">
            <a:extLst>
              <a:ext uri="{FF2B5EF4-FFF2-40B4-BE49-F238E27FC236}">
                <a16:creationId xmlns:a16="http://schemas.microsoft.com/office/drawing/2014/main" id="{9CC2B56E-85C6-DE33-A8DD-1088AF37640B}"/>
              </a:ext>
            </a:extLst>
          </p:cNvPr>
          <p:cNvSpPr/>
          <p:nvPr/>
        </p:nvSpPr>
        <p:spPr>
          <a:xfrm rot="17215187">
            <a:off x="5011771" y="1959191"/>
            <a:ext cx="2168451" cy="2873768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lowchart: Data 12">
            <a:extLst>
              <a:ext uri="{FF2B5EF4-FFF2-40B4-BE49-F238E27FC236}">
                <a16:creationId xmlns:a16="http://schemas.microsoft.com/office/drawing/2014/main" id="{E282E8DF-9052-19C6-E0C4-B4A88A0D5D23}"/>
              </a:ext>
            </a:extLst>
          </p:cNvPr>
          <p:cNvSpPr/>
          <p:nvPr/>
        </p:nvSpPr>
        <p:spPr>
          <a:xfrm rot="17215187">
            <a:off x="4565680" y="349047"/>
            <a:ext cx="2168451" cy="2873768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1740ACF-6376-FE2C-8441-3F0B38CD614D}"/>
              </a:ext>
            </a:extLst>
          </p:cNvPr>
          <p:cNvCxnSpPr/>
          <p:nvPr/>
        </p:nvCxnSpPr>
        <p:spPr>
          <a:xfrm>
            <a:off x="3347634" y="1627322"/>
            <a:ext cx="0" cy="41845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D5D3CCFF-9970-8791-ABB1-5C8AA6C1043A}"/>
              </a:ext>
            </a:extLst>
          </p:cNvPr>
          <p:cNvSpPr txBox="1">
            <a:spLocks/>
          </p:cNvSpPr>
          <p:nvPr/>
        </p:nvSpPr>
        <p:spPr>
          <a:xfrm>
            <a:off x="1633010" y="2392950"/>
            <a:ext cx="9272665" cy="2280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600" b="1" dirty="0">
                <a:latin typeface="+mn-lt"/>
              </a:rPr>
              <a:t>PUSH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59A9891-8D24-F1D1-5C54-9B7002EAF754}"/>
              </a:ext>
            </a:extLst>
          </p:cNvPr>
          <p:cNvCxnSpPr/>
          <p:nvPr/>
        </p:nvCxnSpPr>
        <p:spPr>
          <a:xfrm flipV="1">
            <a:off x="8772040" y="1534332"/>
            <a:ext cx="0" cy="43705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itle 1">
            <a:extLst>
              <a:ext uri="{FF2B5EF4-FFF2-40B4-BE49-F238E27FC236}">
                <a16:creationId xmlns:a16="http://schemas.microsoft.com/office/drawing/2014/main" id="{26F85406-5321-FAE0-8CD7-9C9F3632EAE4}"/>
              </a:ext>
            </a:extLst>
          </p:cNvPr>
          <p:cNvSpPr txBox="1">
            <a:spLocks/>
          </p:cNvSpPr>
          <p:nvPr/>
        </p:nvSpPr>
        <p:spPr>
          <a:xfrm>
            <a:off x="9143757" y="2288894"/>
            <a:ext cx="9272665" cy="2280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600" b="1" dirty="0">
                <a:latin typeface="+mn-lt"/>
              </a:rPr>
              <a:t>POP</a:t>
            </a:r>
          </a:p>
        </p:txBody>
      </p:sp>
    </p:spTree>
    <p:extLst>
      <p:ext uri="{BB962C8B-B14F-4D97-AF65-F5344CB8AC3E}">
        <p14:creationId xmlns:p14="http://schemas.microsoft.com/office/powerpoint/2010/main" val="31646393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0F87292-DEA4-6EBD-63E2-345CD2C971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57" t="38683" r="33607" b="31576"/>
          <a:stretch/>
        </p:blipFill>
        <p:spPr>
          <a:xfrm>
            <a:off x="731284" y="1465289"/>
            <a:ext cx="10729431" cy="287811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10F7482-CEFA-EED4-AE86-5803382697C5}"/>
              </a:ext>
            </a:extLst>
          </p:cNvPr>
          <p:cNvSpPr txBox="1">
            <a:spLocks/>
          </p:cNvSpPr>
          <p:nvPr/>
        </p:nvSpPr>
        <p:spPr>
          <a:xfrm>
            <a:off x="1459666" y="4577788"/>
            <a:ext cx="9272665" cy="2280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sz="2000" b="1" dirty="0" err="1">
                <a:latin typeface="+mn-lt"/>
              </a:rPr>
              <a:t>Biasanya</a:t>
            </a:r>
            <a:r>
              <a:rPr lang="en-US" sz="2000" b="1" dirty="0">
                <a:latin typeface="+mn-lt"/>
              </a:rPr>
              <a:t> </a:t>
            </a:r>
            <a:r>
              <a:rPr lang="en-US" sz="2000" b="1" dirty="0" err="1">
                <a:latin typeface="+mn-lt"/>
              </a:rPr>
              <a:t>navigasi</a:t>
            </a:r>
            <a:r>
              <a:rPr lang="en-US" sz="2000" b="1" dirty="0">
                <a:latin typeface="+mn-lt"/>
              </a:rPr>
              <a:t> </a:t>
            </a:r>
            <a:r>
              <a:rPr lang="en-US" sz="2000" b="1" dirty="0" err="1">
                <a:latin typeface="+mn-lt"/>
              </a:rPr>
              <a:t>hanya</a:t>
            </a:r>
            <a:r>
              <a:rPr lang="en-US" sz="2000" b="1" dirty="0">
                <a:latin typeface="+mn-lt"/>
              </a:rPr>
              <a:t> </a:t>
            </a:r>
            <a:r>
              <a:rPr lang="en-US" sz="2000" b="1" dirty="0" err="1">
                <a:latin typeface="+mn-lt"/>
              </a:rPr>
              <a:t>bisa</a:t>
            </a:r>
            <a:r>
              <a:rPr lang="en-US" sz="2000" b="1" dirty="0">
                <a:latin typeface="+mn-lt"/>
              </a:rPr>
              <a:t> </a:t>
            </a:r>
            <a:r>
              <a:rPr lang="en-US" sz="2000" b="1" dirty="0" err="1">
                <a:latin typeface="+mn-lt"/>
              </a:rPr>
              <a:t>digunakan</a:t>
            </a:r>
            <a:r>
              <a:rPr lang="en-US" sz="2000" b="1" dirty="0">
                <a:latin typeface="+mn-lt"/>
              </a:rPr>
              <a:t> </a:t>
            </a:r>
            <a:r>
              <a:rPr lang="en-US" sz="2000" b="1" dirty="0" err="1">
                <a:latin typeface="+mn-lt"/>
              </a:rPr>
              <a:t>untuk</a:t>
            </a:r>
            <a:r>
              <a:rPr lang="en-US" sz="2000" b="1" dirty="0">
                <a:latin typeface="+mn-lt"/>
              </a:rPr>
              <a:t> </a:t>
            </a:r>
            <a:r>
              <a:rPr lang="en-US" sz="2000" b="1" dirty="0" err="1">
                <a:latin typeface="+mn-lt"/>
              </a:rPr>
              <a:t>beberapa</a:t>
            </a:r>
            <a:r>
              <a:rPr lang="en-US" sz="2000" b="1" dirty="0">
                <a:latin typeface="+mn-lt"/>
              </a:rPr>
              <a:t> layer </a:t>
            </a:r>
            <a:r>
              <a:rPr lang="en-US" sz="2000" b="1" dirty="0" err="1">
                <a:latin typeface="+mn-lt"/>
              </a:rPr>
              <a:t>saja</a:t>
            </a:r>
            <a:r>
              <a:rPr lang="en-US" sz="2000" b="1" dirty="0">
                <a:latin typeface="+mn-lt"/>
              </a:rPr>
              <a:t>, </a:t>
            </a:r>
            <a:r>
              <a:rPr lang="en-US" sz="2000" b="1" dirty="0" err="1">
                <a:latin typeface="+mn-lt"/>
              </a:rPr>
              <a:t>jika</a:t>
            </a:r>
            <a:r>
              <a:rPr lang="en-US" sz="2000" b="1" dirty="0">
                <a:latin typeface="+mn-lt"/>
              </a:rPr>
              <a:t> layer (page) </a:t>
            </a:r>
            <a:r>
              <a:rPr lang="en-US" sz="2000" b="1" dirty="0" err="1">
                <a:latin typeface="+mn-lt"/>
              </a:rPr>
              <a:t>banyak</a:t>
            </a:r>
            <a:r>
              <a:rPr lang="en-US" sz="2000" b="1" dirty="0">
                <a:latin typeface="+mn-lt"/>
              </a:rPr>
              <a:t> </a:t>
            </a:r>
            <a:r>
              <a:rPr lang="en-US" sz="2000" b="1" dirty="0" err="1">
                <a:latin typeface="+mn-lt"/>
              </a:rPr>
              <a:t>maka</a:t>
            </a:r>
            <a:r>
              <a:rPr lang="en-US" sz="2000" b="1" dirty="0">
                <a:latin typeface="+mn-lt"/>
              </a:rPr>
              <a:t> </a:t>
            </a:r>
            <a:r>
              <a:rPr lang="en-US" sz="2000" b="1" dirty="0" err="1">
                <a:latin typeface="+mn-lt"/>
              </a:rPr>
              <a:t>bisa</a:t>
            </a:r>
            <a:r>
              <a:rPr lang="en-US" sz="2000" b="1" dirty="0">
                <a:latin typeface="+mn-lt"/>
              </a:rPr>
              <a:t> </a:t>
            </a:r>
            <a:r>
              <a:rPr lang="en-US" sz="2000" b="1" dirty="0" err="1">
                <a:latin typeface="+mn-lt"/>
              </a:rPr>
              <a:t>menggunakan</a:t>
            </a:r>
            <a:r>
              <a:rPr lang="en-US" sz="2000" b="1" dirty="0">
                <a:latin typeface="+mn-lt"/>
              </a:rPr>
              <a:t> </a:t>
            </a:r>
            <a:r>
              <a:rPr lang="en-US" sz="2000" b="1" dirty="0" err="1">
                <a:latin typeface="+mn-lt"/>
              </a:rPr>
              <a:t>cara</a:t>
            </a:r>
            <a:r>
              <a:rPr lang="en-US" sz="2000" b="1" dirty="0">
                <a:latin typeface="+mn-lt"/>
              </a:rPr>
              <a:t> router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6063B58-4281-07A8-1161-52C14EAD24C9}"/>
              </a:ext>
            </a:extLst>
          </p:cNvPr>
          <p:cNvSpPr txBox="1">
            <a:spLocks/>
          </p:cNvSpPr>
          <p:nvPr/>
        </p:nvSpPr>
        <p:spPr>
          <a:xfrm>
            <a:off x="10274509" y="6116777"/>
            <a:ext cx="11459980" cy="8611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000" b="1" dirty="0" err="1">
                <a:latin typeface="+mn-lt"/>
              </a:rPr>
              <a:t>Lihat</a:t>
            </a:r>
            <a:r>
              <a:rPr lang="en-US" sz="2000" b="1" dirty="0">
                <a:latin typeface="+mn-lt"/>
              </a:rPr>
              <a:t> VS Code</a:t>
            </a:r>
          </a:p>
        </p:txBody>
      </p:sp>
    </p:spTree>
    <p:extLst>
      <p:ext uri="{BB962C8B-B14F-4D97-AF65-F5344CB8AC3E}">
        <p14:creationId xmlns:p14="http://schemas.microsoft.com/office/powerpoint/2010/main" val="17648932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2698</TotalTime>
  <Words>388</Words>
  <Application>Microsoft Office PowerPoint</Application>
  <PresentationFormat>Widescreen</PresentationFormat>
  <Paragraphs>80</Paragraphs>
  <Slides>25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Office Theme</vt:lpstr>
      <vt:lpstr>Widget &amp; Navigation TKK Mobile Apps Aqshal Nur Ikhsan S.Si., M.Si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159</cp:revision>
  <dcterms:created xsi:type="dcterms:W3CDTF">2024-08-24T02:45:45Z</dcterms:created>
  <dcterms:modified xsi:type="dcterms:W3CDTF">2024-09-22T18:06:09Z</dcterms:modified>
</cp:coreProperties>
</file>